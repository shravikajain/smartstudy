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8" r:id="rId19"/>
    <p:sldId id="269" r:id="rId20"/>
    <p:sldId id="270" r:id="rId21"/>
    <p:sldId id="262" r:id="rId13"/>
    <p:sldId id="263" r:id="rId14"/>
    <p:sldId id="271" r:id="rId22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texts caught</c:v>
                </c:pt>
              </c:strCache>
            </c:strRef>
          </c:tx>
          <c:spPr>
            <a:solidFill>
              <a:srgbClr val="22B8A5"/>
            </a:solidFill>
          </c:spPr>
          <c:cat>
            <c:strRef>
              <c:f>Sheet1!$A$2:$A$4</c:f>
              <c:strCache>
                <c:ptCount val="3"/>
                <c:pt idx="0">
                  <c:v>Previous: chatgpt-detector (2023)</c:v>
                </c:pt>
                <c:pt idx="1">
                  <c:v>Fakespot RoBERTa (adopted)</c:v>
                </c:pt>
                <c:pt idx="2">
                  <c:v>e5-small LoRA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texts wrongly flagged</c:v>
                </c:pt>
              </c:strCache>
            </c:strRef>
          </c:tx>
          <c:spPr>
            <a:solidFill>
              <a:srgbClr val="FFB86B"/>
            </a:solidFill>
          </c:spPr>
          <c:cat>
            <c:strRef>
              <c:f>Sheet1!$A$2:$A$4</c:f>
              <c:strCache>
                <c:ptCount val="3"/>
                <c:pt idx="0">
                  <c:v>Previous: chatgpt-detector (2023)</c:v>
                </c:pt>
                <c:pt idx="1">
                  <c:v>Fakespot RoBERTa (adopted)</c:v>
                </c:pt>
                <c:pt idx="2">
                  <c:v>e5-small LoRA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824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FE5EF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E8ED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.0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66748C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02752" y="475488"/>
            <a:ext cx="3337560" cy="3337560"/>
          </a:xfrm>
          <a:prstGeom prst="ellipse">
            <a:avLst/>
          </a:prstGeom>
          <a:solidFill>
            <a:srgbClr val="1E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941832"/>
            <a:ext cx="2395728" cy="2395728"/>
          </a:xfrm>
          <a:prstGeom prst="ellipse">
            <a:avLst/>
          </a:prstGeom>
          <a:solidFill>
            <a:srgbClr val="24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72016" y="1426464"/>
            <a:ext cx="1417320" cy="1417320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10928" y="1865376"/>
            <a:ext cx="530352" cy="530352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91272" y="4251960"/>
            <a:ext cx="3246120" cy="475488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4192" y="4910328"/>
            <a:ext cx="2651760" cy="393192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74736" y="5513832"/>
            <a:ext cx="3044952" cy="210312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768096"/>
            <a:ext cx="1755648" cy="292608"/>
          </a:xfrm>
          <a:prstGeom prst="roundRect">
            <a:avLst>
              <a:gd name="adj" fmla="val 12000"/>
            </a:avLst>
          </a:prstGeom>
          <a:solidFill>
            <a:srgbClr val="26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81838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6B"/>
                </a:solidFill>
                <a:latin typeface="Aptos"/>
              </a:rPr>
              <a:t>FINAL YEAR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60350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ptos"/>
              </a:rPr>
              <a:t>Smart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ptos"/>
              </a:rPr>
              <a:t>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10128"/>
            <a:ext cx="694944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6DEEB"/>
                </a:solidFill>
                <a:latin typeface="Aptos"/>
              </a:rPr>
              <a:t>Adaptive Exam Practice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6DEEB"/>
                </a:solidFill>
                <a:latin typeface="Aptos"/>
              </a:rPr>
              <a:t>Interview Preparation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98848"/>
            <a:ext cx="6583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FC0D9"/>
                </a:solidFill>
                <a:latin typeface="Aptos"/>
              </a:rPr>
              <a:t>A smarter path from past papers to confident practice.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76088"/>
            <a:ext cx="1920240" cy="45720"/>
          </a:xfrm>
          <a:prstGeom prst="rect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412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SUBMISSION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79592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C0D9"/>
                </a:solidFill>
                <a:latin typeface="Aptos"/>
              </a:rPr>
              <a:t>Shravika Jain  ·  Taniksha Patidar  ·  Siddhi Nagar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C0D9"/>
                </a:solidFill>
                <a:latin typeface="Aptos"/>
              </a:rPr>
              <a:t>Guided by Dr. Hemant Makwana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2636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FC0D9"/>
                </a:solidFill>
                <a:latin typeface="Aptos"/>
              </a:rPr>
              <a:t>SMART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01 / 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Good preparation should be focused, not repetitive.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Students often have the material—but not an efficient way to turn it into targeted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103120"/>
            <a:ext cx="3456432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03120"/>
            <a:ext cx="64008" cy="2313432"/>
          </a:xfrm>
          <a:prstGeom prst="rect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43B"/>
                </a:solidFill>
                <a:latin typeface="Aptos"/>
              </a:rPr>
              <a:t>Past papers stay static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3017520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48C"/>
                </a:solidFill>
                <a:latin typeface="Aptos"/>
              </a:rPr>
              <a:t>Important themes are hard to spot across multiple papers; manually creating practice takes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103120"/>
            <a:ext cx="3456432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2103120"/>
            <a:ext cx="64008" cy="2313432"/>
          </a:xfrm>
          <a:prstGeom prst="rect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28600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43B"/>
                </a:solidFill>
                <a:latin typeface="Aptos"/>
              </a:rPr>
              <a:t>Practice is one-size-fits-all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34639"/>
            <a:ext cx="3017520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48C"/>
                </a:solidFill>
                <a:latin typeface="Aptos"/>
              </a:rPr>
              <a:t>A fixed question sequence may not respond to what a learner already understands.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103120"/>
            <a:ext cx="3456432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103120"/>
            <a:ext cx="64008" cy="2313432"/>
          </a:xfrm>
          <a:prstGeom prst="rect">
            <a:avLst/>
          </a:prstGeom>
          <a:solidFill>
            <a:srgbClr val="92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28600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43B"/>
                </a:solidFill>
                <a:latin typeface="Aptos"/>
              </a:rPr>
              <a:t>Feedback can stop at a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34639"/>
            <a:ext cx="3017520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48C"/>
                </a:solidFill>
                <a:latin typeface="Aptos"/>
              </a:rPr>
              <a:t>Written answers and interview readiness need more useful feedback than right or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855464"/>
            <a:ext cx="10744200" cy="832104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07492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SMART STUDY’S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00176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Convert learning material into a guided loop: discover → practise → reflect → improve.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02 / 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From uploaded paper to a personal study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A single workflow connects source material, AI-assisted preparation, and adaptive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258568"/>
            <a:ext cx="621792" cy="621792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3230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72768" y="2569464"/>
            <a:ext cx="1819656" cy="0"/>
          </a:xfrm>
          <a:prstGeom prst="line">
            <a:avLst/>
          </a:prstGeom>
          <a:ln w="254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3232" y="3145536"/>
            <a:ext cx="24688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87F78"/>
                </a:solidFill>
                <a:latin typeface="Aptos"/>
              </a:rPr>
              <a:t>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20848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Bring your papers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20848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Upload past exam PDFs to a subject workspace.</a:t>
            </a:r>
          </a:p>
        </p:txBody>
      </p:sp>
      <p:sp>
        <p:nvSpPr>
          <p:cNvPr id="15" name="Oval 14"/>
          <p:cNvSpPr/>
          <p:nvPr/>
        </p:nvSpPr>
        <p:spPr>
          <a:xfrm>
            <a:off x="3630168" y="2258568"/>
            <a:ext cx="621792" cy="621792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43230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61688" y="2569464"/>
            <a:ext cx="1819656" cy="0"/>
          </a:xfrm>
          <a:prstGeom prst="line">
            <a:avLst/>
          </a:prstGeom>
          <a:ln w="254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02152" y="3145536"/>
            <a:ext cx="24688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3558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487F5"/>
                </a:solidFill>
                <a:latin typeface="Aptos"/>
              </a:rP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49624"/>
            <a:ext cx="20848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Find the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97680"/>
            <a:ext cx="20848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Extract text, identify topics, and organise the material.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2258568"/>
            <a:ext cx="621792" cy="621792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43230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0608" y="2569464"/>
            <a:ext cx="1819656" cy="0"/>
          </a:xfrm>
          <a:prstGeom prst="line">
            <a:avLst/>
          </a:prstGeom>
          <a:ln w="254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91072" y="3145536"/>
            <a:ext cx="24688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273D8"/>
                </a:solidFill>
                <a:latin typeface="Aptos"/>
              </a:rPr>
              <a:t>Q+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49624"/>
            <a:ext cx="20848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Build a practice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97680"/>
            <a:ext cx="20848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Generate MCQ, written, or mixed-format questions.</a:t>
            </a:r>
          </a:p>
        </p:txBody>
      </p:sp>
      <p:sp>
        <p:nvSpPr>
          <p:cNvPr id="29" name="Oval 28"/>
          <p:cNvSpPr/>
          <p:nvPr/>
        </p:nvSpPr>
        <p:spPr>
          <a:xfrm>
            <a:off x="9208007" y="2258568"/>
            <a:ext cx="621792" cy="621792"/>
          </a:xfrm>
          <a:prstGeom prst="ellipse">
            <a:avLst/>
          </a:prstGeom>
          <a:solidFill>
            <a:srgbClr val="92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8007" y="243230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9991" y="3145536"/>
            <a:ext cx="246888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59" y="33558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87F78"/>
                </a:solidFill>
                <a:latin typeface="Aptos"/>
              </a:rPr>
              <a:t>IRT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849624"/>
            <a:ext cx="20848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Learn at your 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4297680"/>
            <a:ext cx="20848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Answer, get feedback, and review every saved test later.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605272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F78"/>
                </a:solidFill>
                <a:latin typeface="Aptos"/>
              </a:rPr>
              <a:t>Learner stays in control: choose a subject, pick MCQ, subjective or both, and work through a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03 /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One platform. Three meaningful practice contexts.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Designed for learners preparing for exams, written assessments, and interviews.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139696"/>
            <a:ext cx="3401568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395728"/>
            <a:ext cx="502920" cy="50292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B8A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3639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EXAM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75887"/>
            <a:ext cx="28529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48C"/>
                </a:solidFill>
                <a:latin typeface="Aptos"/>
              </a:rPr>
              <a:t>Turn previous papers into fresh, topic-aware practice.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4535424"/>
            <a:ext cx="2889504" cy="0"/>
          </a:xfrm>
          <a:prstGeom prst="line">
            <a:avLst/>
          </a:prstGeom>
          <a:ln w="127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1832" y="469087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B8A5"/>
                </a:solidFill>
                <a:latin typeface="Aptos"/>
              </a:rPr>
              <a:t>Upload a paper → review extracted topics → practise generated questions.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2139696"/>
            <a:ext cx="3401568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19" y="2395728"/>
            <a:ext cx="502920" cy="502920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2551176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313639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WRITTEN-ANSWER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3675887"/>
            <a:ext cx="28529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48C"/>
                </a:solidFill>
                <a:latin typeface="Aptos"/>
              </a:rPr>
              <a:t>Go beyond multiple choice with evaluated written responses.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17719" y="4535424"/>
            <a:ext cx="2889504" cy="0"/>
          </a:xfrm>
          <a:prstGeom prst="line">
            <a:avLst/>
          </a:prstGeom>
          <a:ln w="127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7719" y="469087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487F5"/>
                </a:solidFill>
                <a:latin typeface="Aptos"/>
              </a:rPr>
              <a:t>Submit text or an answer PDF → receive a score, feedback and an AI-writing estimate.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39696"/>
            <a:ext cx="3401568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93607" y="2395728"/>
            <a:ext cx="502920" cy="502920"/>
          </a:xfrm>
          <a:prstGeom prst="ellipse">
            <a:avLst/>
          </a:prstGeom>
          <a:solidFill>
            <a:srgbClr val="F0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2551176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273D8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313639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43B"/>
                </a:solidFill>
                <a:latin typeface="Aptos"/>
              </a:rPr>
              <a:t>INTERVIEW REHEARSAL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3675887"/>
            <a:ext cx="28529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48C"/>
                </a:solidFill>
                <a:latin typeface="Aptos"/>
              </a:rPr>
              <a:t>Practise subject or engineering-role questions at a chosen level.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93607" y="4535424"/>
            <a:ext cx="2889504" cy="0"/>
          </a:xfrm>
          <a:prstGeom prst="line">
            <a:avLst/>
          </a:prstGeom>
          <a:ln w="127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93607" y="469087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273D8"/>
                </a:solidFill>
                <a:latin typeface="Aptos"/>
              </a:rPr>
              <a:t>Respond in text or dictate an answer; local Whisper transcription is supported.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596128"/>
            <a:ext cx="10771632" cy="47548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733288"/>
            <a:ext cx="10378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 learner can move from understanding the material to practising how they will be assessed.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04 / CONTENT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A practical bridge between old papers and new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Question generation can use extracted text and scanned-paper OCR; question types are configurable.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04288"/>
            <a:ext cx="2139696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2487168"/>
            <a:ext cx="512064" cy="292608"/>
          </a:xfrm>
          <a:prstGeom prst="roundRect">
            <a:avLst>
              <a:gd name="adj" fmla="val 12000"/>
            </a:avLst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5374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F7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986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B"/>
                </a:solidFill>
                <a:latin typeface="Aptos"/>
              </a:rPr>
              <a:t>PDF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36976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Upload 1–5 papers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80944" y="2944368"/>
            <a:ext cx="274320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10128" y="2304288"/>
            <a:ext cx="2139696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65576" y="2487168"/>
            <a:ext cx="512064" cy="292608"/>
          </a:xfrm>
          <a:prstGeom prst="roundRect">
            <a:avLst>
              <a:gd name="adj" fmla="val 12000"/>
            </a:avLst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25374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F7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8986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B"/>
                </a:solidFill>
                <a:latin typeface="Aptos"/>
              </a:rPr>
              <a:t>Text &amp; topics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236976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Extract / OCR, cluster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68112" y="2944368"/>
            <a:ext cx="274320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97296" y="2304288"/>
            <a:ext cx="2139696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52744" y="2487168"/>
            <a:ext cx="512064" cy="292608"/>
          </a:xfrm>
          <a:prstGeom prst="roundRect">
            <a:avLst>
              <a:gd name="adj" fmla="val 12000"/>
            </a:avLst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5374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F78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28986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B"/>
                </a:solidFill>
                <a:latin typeface="Aptos"/>
              </a:rPr>
              <a:t>Question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236976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MCQ, subjective or both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2103120"/>
            <a:ext cx="3182112" cy="3163824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239572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BUILT-IN GUARDRAILS</a:t>
            </a:r>
          </a:p>
        </p:txBody>
      </p:sp>
      <p:sp>
        <p:nvSpPr>
          <p:cNvPr id="27" name="Oval 26"/>
          <p:cNvSpPr/>
          <p:nvPr/>
        </p:nvSpPr>
        <p:spPr>
          <a:xfrm>
            <a:off x="8567928" y="2953512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862072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1–5 PDFs per generation request</a:t>
            </a:r>
          </a:p>
        </p:txBody>
      </p:sp>
      <p:sp>
        <p:nvSpPr>
          <p:cNvPr id="29" name="Oval 28"/>
          <p:cNvSpPr/>
          <p:nvPr/>
        </p:nvSpPr>
        <p:spPr>
          <a:xfrm>
            <a:off x="8567928" y="3474720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3383280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1–50 questions per request</a:t>
            </a:r>
          </a:p>
        </p:txBody>
      </p:sp>
      <p:sp>
        <p:nvSpPr>
          <p:cNvPr id="31" name="Oval 30"/>
          <p:cNvSpPr/>
          <p:nvPr/>
        </p:nvSpPr>
        <p:spPr>
          <a:xfrm>
            <a:off x="8567928" y="3995927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9096" y="3904487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Saved bank, practised by type</a:t>
            </a:r>
          </a:p>
        </p:txBody>
      </p:sp>
      <p:sp>
        <p:nvSpPr>
          <p:cNvPr id="33" name="Oval 32"/>
          <p:cNvSpPr/>
          <p:nvPr/>
        </p:nvSpPr>
        <p:spPr>
          <a:xfrm>
            <a:off x="8567928" y="4517136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4425696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Subjective answers: text or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133087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B"/>
                </a:solidFill>
                <a:latin typeface="Aptos"/>
              </a:rPr>
              <a:t>Why this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562856"/>
            <a:ext cx="69037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48C"/>
                </a:solidFill>
                <a:latin typeface="Aptos"/>
              </a:rPr>
              <a:t>Learners start with familiar course material, while the platform helps make it easier to review recurring topics and generate fresh practice.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96128"/>
            <a:ext cx="6903720" cy="393192"/>
          </a:xfrm>
          <a:prstGeom prst="roundRect">
            <a:avLst>
              <a:gd name="adj" fmla="val 12000"/>
            </a:avLst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05856"/>
            <a:ext cx="6537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Scanned PDFs can be processed through the ML service OCR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05 / ADAPTIVE QUIZZING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The next question responds to learner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The backend uses an IRT-inspired ability estimate to select a question near the learner’s current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03120"/>
            <a:ext cx="6812280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865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THE QUIZ LOOP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3017520"/>
            <a:ext cx="484632" cy="484632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36391"/>
            <a:ext cx="4846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B8A5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7307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078224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Correct / incorrect</a:t>
            </a:r>
          </a:p>
        </p:txBody>
      </p:sp>
      <p:sp>
        <p:nvSpPr>
          <p:cNvPr id="14" name="Oval 13"/>
          <p:cNvSpPr/>
          <p:nvPr/>
        </p:nvSpPr>
        <p:spPr>
          <a:xfrm>
            <a:off x="2971800" y="3017520"/>
            <a:ext cx="484632" cy="484632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136391"/>
            <a:ext cx="4846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87F5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7307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Update 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4078224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Estimate learner level</a:t>
            </a:r>
          </a:p>
        </p:txBody>
      </p:sp>
      <p:sp>
        <p:nvSpPr>
          <p:cNvPr id="18" name="Oval 17"/>
          <p:cNvSpPr/>
          <p:nvPr/>
        </p:nvSpPr>
        <p:spPr>
          <a:xfrm>
            <a:off x="4910328" y="3017520"/>
            <a:ext cx="484632" cy="484632"/>
          </a:xfrm>
          <a:prstGeom prst="ellipse">
            <a:avLst/>
          </a:prstGeom>
          <a:solidFill>
            <a:srgbClr val="F0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3136391"/>
            <a:ext cx="48463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273D8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7307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Select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4078224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Closest difficulty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82496" y="3264408"/>
            <a:ext cx="1188720" cy="0"/>
          </a:xfrm>
          <a:prstGeom prst="line">
            <a:avLst/>
          </a:prstGeom>
          <a:ln w="254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30168" y="3264408"/>
            <a:ext cx="1188720" cy="0"/>
          </a:xfrm>
          <a:prstGeom prst="line">
            <a:avLst/>
          </a:prstGeom>
          <a:ln w="25400">
            <a:solidFill>
              <a:srgbClr val="DF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13832" y="3877056"/>
            <a:ext cx="0" cy="841248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243584" y="4718304"/>
            <a:ext cx="4270248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43584" y="3657600"/>
            <a:ext cx="0" cy="1060704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8880" y="48554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repeat for the 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2103120"/>
            <a:ext cx="3575304" cy="3547872"/>
          </a:xfrm>
          <a:prstGeom prst="roundRect">
            <a:avLst>
              <a:gd name="adj" fmla="val 12000"/>
            </a:avLst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2423160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87F5"/>
                </a:solidFill>
                <a:latin typeface="Aptos"/>
              </a:rPr>
              <a:t>WHAT THE ENGINE TRACKS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28986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Ability estimate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3182112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Updated after each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364845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Question difficulty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931920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Compared with current 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439826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Session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4681727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48C"/>
                </a:solidFill>
                <a:latin typeface="Aptos"/>
              </a:rPr>
              <a:t>Saved to My tests for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907024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Implementation note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833872"/>
            <a:ext cx="85039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48C"/>
                </a:solidFill>
                <a:latin typeface="Aptos"/>
              </a:rPr>
              <a:t>The current engine uses a bounded logistic probability model and selects the available question whose difficulty is nearest to estimated 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06 / PRACTICE &amp; SELF-REVIEW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Practise by question type, then review every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Learners choose MCQ, subjective or both from their question bank; every test is saved for self-evaluation.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39696"/>
            <a:ext cx="47244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32304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HOW IT WORKS</a:t>
            </a:r>
          </a:p>
        </p:txBody>
      </p:sp>
      <p:sp>
        <p:nvSpPr>
          <p:cNvPr id="10" name="Oval 9"/>
          <p:cNvSpPr/>
          <p:nvPr/>
        </p:nvSpPr>
        <p:spPr>
          <a:xfrm>
            <a:off x="1042415" y="3017520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926080"/>
            <a:ext cx="396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Pick MCQ, subjective or both, and the test length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3511296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419856"/>
            <a:ext cx="396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Adaptive difficulty still chooses each next question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4005072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913632"/>
            <a:ext cx="396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My tests lists every attempt with its score and date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5" y="4498848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4407408"/>
            <a:ext cx="396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Review: your answer, grade, feedback, model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669280"/>
            <a:ext cx="127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Saved per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4400" y="5596128"/>
            <a:ext cx="889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43B"/>
                </a:solidFill>
                <a:latin typeface="Aptos"/>
              </a:rPr>
              <a:t>Answer text · score · feedback · AI-writing probability and flag · time answered</a:t>
            </a:r>
          </a:p>
        </p:txBody>
      </p:sp>
      <p:pic>
        <p:nvPicPr>
          <p:cNvPr id="30" name="Practice panel screenshot" descr="slide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2133600"/>
            <a:ext cx="5613400" cy="1092874"/>
          </a:xfrm>
          <a:prstGeom prst="rect">
            <a:avLst/>
          </a:prstGeom>
          <a:ln w="9525">
            <a:solidFill>
              <a:srgbClr val="DFE5EF"/>
            </a:solidFill>
          </a:ln>
        </p:spPr>
      </p:pic>
      <p:pic>
        <p:nvPicPr>
          <p:cNvPr id="31" name="Test review screenshot" descr="slide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3340100"/>
            <a:ext cx="5613400" cy="2076461"/>
          </a:xfrm>
          <a:prstGeom prst="rect">
            <a:avLst/>
          </a:prstGeom>
          <a:ln w="9525">
            <a:solidFill>
              <a:srgbClr val="DFE5E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07 / WRITING AUTHENTICITY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An advisory AI-writing check, built in and standalone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Subjective answers get an AI-writing estimate, and learners can check their own notes or essays.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4000" y="2139696"/>
            <a:ext cx="4787900" cy="2984500"/>
          </a:xfrm>
          <a:prstGeom prst="roundRect">
            <a:avLst>
              <a:gd name="adj" fmla="val 12000"/>
            </a:avLst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3400" y="2432304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WHERE IT IS USED</a:t>
            </a:r>
          </a:p>
        </p:txBody>
      </p:sp>
      <p:sp>
        <p:nvSpPr>
          <p:cNvPr id="20" name="Oval 19"/>
          <p:cNvSpPr/>
          <p:nvPr/>
        </p:nvSpPr>
        <p:spPr>
          <a:xfrm>
            <a:off x="6896100" y="3017520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9300" y="2926080"/>
            <a:ext cx="403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Shown with graded answers; never changes the grade</a:t>
            </a:r>
          </a:p>
        </p:txBody>
      </p:sp>
      <p:sp>
        <p:nvSpPr>
          <p:cNvPr id="22" name="Oval 21"/>
          <p:cNvSpPr/>
          <p:nvPr/>
        </p:nvSpPr>
        <p:spPr>
          <a:xfrm>
            <a:off x="6896100" y="3511296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9300" y="3419856"/>
            <a:ext cx="403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Standalone check: paste text or upload PDF, .txt or .md</a:t>
            </a:r>
          </a:p>
        </p:txBody>
      </p:sp>
      <p:sp>
        <p:nvSpPr>
          <p:cNvPr id="24" name="Oval 23"/>
          <p:cNvSpPr/>
          <p:nvPr/>
        </p:nvSpPr>
        <p:spPr>
          <a:xfrm>
            <a:off x="6896100" y="4005072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9300" y="3913632"/>
            <a:ext cx="403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Long documents are scored section by section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896100" y="4498848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9300" y="4407408"/>
            <a:ext cx="403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Only the scores are saved; the text itself is not stored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669280"/>
            <a:ext cx="1270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Advisory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4400" y="5596128"/>
            <a:ext cx="889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43B"/>
                </a:solidFill>
                <a:latin typeface="Aptos"/>
              </a:rPr>
              <a:t>Detection can be wrong in both directions, so it is never treated as proof of authorship.</a:t>
            </a:r>
          </a:p>
        </p:txBody>
      </p:sp>
      <p:pic>
        <p:nvPicPr>
          <p:cNvPr id="30" name="Authenticity result screenshot" descr="slide-authen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2133600"/>
            <a:ext cx="5588000" cy="2531908"/>
          </a:xfrm>
          <a:prstGeom prst="rect">
            <a:avLst/>
          </a:prstGeom>
          <a:ln w="9525">
            <a:solidFill>
              <a:srgbClr val="DFE5EF"/>
            </a:solidFill>
          </a:ln>
        </p:spPr>
      </p:pic>
      <p:sp>
        <p:nvSpPr>
          <p:cNvPr id="31" name="Band high"/>
          <p:cNvSpPr/>
          <p:nvPr/>
        </p:nvSpPr>
        <p:spPr>
          <a:xfrm>
            <a:off x="749300" y="4838700"/>
            <a:ext cx="1778000" cy="279400"/>
          </a:xfrm>
          <a:prstGeom prst="roundRect">
            <a:avLst/>
          </a:prstGeom>
          <a:solidFill>
            <a:srgbClr val="FF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B64646"/>
                </a:solidFill>
                <a:latin typeface="Aptos"/>
              </a:rPr>
              <a:t>≥ 60%  Likely AI-written</a:t>
            </a:r>
          </a:p>
        </p:txBody>
      </p:sp>
      <p:sp>
        <p:nvSpPr>
          <p:cNvPr id="32" name="Band mid"/>
          <p:cNvSpPr/>
          <p:nvPr/>
        </p:nvSpPr>
        <p:spPr>
          <a:xfrm>
            <a:off x="2654300" y="4838700"/>
            <a:ext cx="1778000" cy="279400"/>
          </a:xfrm>
          <a:prstGeom prst="roundRect">
            <a:avLst/>
          </a:prstGeom>
          <a:solidFill>
            <a:srgbClr val="F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8A6412"/>
                </a:solidFill>
                <a:latin typeface="Aptos"/>
              </a:rPr>
              <a:t>35–60%  Uncertain</a:t>
            </a:r>
          </a:p>
        </p:txBody>
      </p:sp>
      <p:sp>
        <p:nvSpPr>
          <p:cNvPr id="33" name="Band low"/>
          <p:cNvSpPr/>
          <p:nvPr/>
        </p:nvSpPr>
        <p:spPr>
          <a:xfrm>
            <a:off x="4559300" y="4838700"/>
            <a:ext cx="1778000" cy="279400"/>
          </a:xfrm>
          <a:prstGeom prst="roundRect">
            <a:avLst/>
          </a:prstGeom>
          <a:solidFill>
            <a:srgbClr val="E6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2F7A52"/>
                </a:solidFill>
                <a:latin typeface="Aptos"/>
              </a:rPr>
              <a:t>&lt; 35%  Likely human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08 / DETECTOR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We tested the detector—and replaced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8 answers written by gpt-oss:120b and 8 human-written passages, scored at the 0.6 flag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39696"/>
            <a:ext cx="6604000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32304"/>
            <a:ext cx="596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RESULTS OUT OF 8 TEXTS 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0" y="2139696"/>
            <a:ext cx="3771900" cy="3136392"/>
          </a:xfrm>
          <a:prstGeom prst="roundRect">
            <a:avLst>
              <a:gd name="adj" fmla="val 12000"/>
            </a:avLst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0" y="2432304"/>
            <a:ext cx="330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WHAT WE CONCLUDED</a:t>
            </a:r>
          </a:p>
        </p:txBody>
      </p:sp>
      <p:sp>
        <p:nvSpPr>
          <p:cNvPr id="20" name="Oval 19"/>
          <p:cNvSpPr/>
          <p:nvPr/>
        </p:nvSpPr>
        <p:spPr>
          <a:xfrm>
            <a:off x="7886700" y="3017520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9900" y="2926080"/>
            <a:ext cx="312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The previous model flagged none of the 8 AI answers</a:t>
            </a:r>
          </a:p>
        </p:txBody>
      </p:sp>
      <p:sp>
        <p:nvSpPr>
          <p:cNvPr id="22" name="Oval 21"/>
          <p:cNvSpPr/>
          <p:nvPr/>
        </p:nvSpPr>
        <p:spPr>
          <a:xfrm>
            <a:off x="7886700" y="3511296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9900" y="3419856"/>
            <a:ext cx="312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Fakespot caught the most AI text, with fewer false flags than e5-small</a:t>
            </a:r>
          </a:p>
        </p:txBody>
      </p:sp>
      <p:sp>
        <p:nvSpPr>
          <p:cNvPr id="24" name="Oval 23"/>
          <p:cNvSpPr/>
          <p:nvPr/>
        </p:nvSpPr>
        <p:spPr>
          <a:xfrm>
            <a:off x="7886700" y="4005072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9900" y="3913632"/>
            <a:ext cx="312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No small open model was reliable, so scores stay advisory</a:t>
            </a:r>
          </a:p>
        </p:txBody>
      </p:sp>
      <p:sp>
        <p:nvSpPr>
          <p:cNvPr id="26" name="Oval 25"/>
          <p:cNvSpPr/>
          <p:nvPr/>
        </p:nvSpPr>
        <p:spPr>
          <a:xfrm>
            <a:off x="7886700" y="4498848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900" y="4407408"/>
            <a:ext cx="312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16 texts is an indicative check, not a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66928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6600" y="5596128"/>
            <a:ext cx="9271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43B"/>
                </a:solidFill>
                <a:latin typeface="Aptos"/>
              </a:rPr>
              <a:t>Switched to fakespot-ai/roberta-base-ai-text-detection-v1, pinned to a fixed model revision.</a:t>
            </a:r>
          </a:p>
        </p:txBody>
      </p:sp>
      <p:graphicFrame>
        <p:nvGraphicFramePr>
          <p:cNvPr id="30" name="Detector evaluation chart"/>
          <p:cNvGraphicFramePr>
            <a:graphicFrameLocks noGrp="1"/>
          </p:cNvGraphicFramePr>
          <p:nvPr/>
        </p:nvGraphicFramePr>
        <p:xfrm>
          <a:off x="914400" y="2692400"/>
          <a:ext cx="6273800" cy="248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09 / BACKEND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Spring Boot is the application’s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It owns identity, domain data, quiz orchestration, and the contract between the browser, database, and ML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216712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30552"/>
            <a:ext cx="2167128" cy="109728"/>
          </a:xfrm>
          <a:prstGeom prst="rect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1801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B8A5"/>
                </a:solidFill>
                <a:latin typeface="Aptos"/>
              </a:rPr>
              <a:t>API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180136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Auth · subjects · topics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Papers · quizzes ·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Authenticity checks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Interviews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130552"/>
            <a:ext cx="230428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4096" y="2130552"/>
            <a:ext cx="2304288" cy="109728"/>
          </a:xfrm>
          <a:prstGeom prst="rect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6976" y="245059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DOMAIN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3044952"/>
            <a:ext cx="19385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Validation &amp; ownership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Paper / quiz orchestration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Evaluation &amp; test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2130552"/>
            <a:ext cx="2313432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04688" y="2130552"/>
            <a:ext cx="2313432" cy="109728"/>
          </a:xfrm>
          <a:prstGeom prst="rect">
            <a:avLst/>
          </a:prstGeom>
          <a:solidFill>
            <a:srgbClr val="92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2450592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273D8"/>
                </a:solidFill>
                <a:latin typeface="Aptos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044952"/>
            <a:ext cx="1947672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Spring Data JPA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Users · subjects · topics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Questions · tests ·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2130552"/>
            <a:ext cx="349300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64424" y="2130552"/>
            <a:ext cx="3493008" cy="109728"/>
          </a:xfrm>
          <a:prstGeom prst="rect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245059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044952"/>
            <a:ext cx="312724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PostgreSQL data 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ML service via typed HTTP client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B"/>
                </a:solidFill>
                <a:latin typeface="Aptos"/>
              </a:rPr>
              <a:t>PDF text extraction &amp; file storage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3703320"/>
            <a:ext cx="91440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85816" y="3703320"/>
            <a:ext cx="91439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45552" y="3703320"/>
            <a:ext cx="91440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8" y="5577840"/>
            <a:ext cx="10689336" cy="530352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751576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JWT-protected user flows  ·  user-scoped records  ·  readable ML errors  ·  no DB connection held during ML calls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10 / INTELLIGENCE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Focused ML capabilities behind a clear service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A separate FastAPI service handles AI-assisted tasks while the backend remains responsible for app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304288"/>
            <a:ext cx="256032" cy="256032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B8A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B8A5"/>
                </a:solidFill>
                <a:latin typeface="Aptos"/>
              </a:rPr>
              <a:t>PAPER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Cluster topics with TF-IDF + MiniLM sentence embeddings; find questions repeated across papers.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2304288"/>
            <a:ext cx="256032" cy="256032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87F5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QUESTION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Create MCQ, subjective, or mixed sets; options are shuffled and duplicates removed.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F0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273D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273D8"/>
                </a:solidFill>
                <a:latin typeface="Aptos"/>
              </a:rPr>
              <a:t>WRITTEN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Grade a subjective response and return a score with feedback.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3941063"/>
            <a:ext cx="256032" cy="256032"/>
          </a:xfrm>
          <a:prstGeom prst="ellipse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B86B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INTERVIEW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Generate the next turn for a subject or engineering-role interview.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26864" y="3941063"/>
            <a:ext cx="256032" cy="256032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7F78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OCR + 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OCR for scanned PDFs; local CPU Whisper transcription for interview audio.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1040" y="3941063"/>
            <a:ext cx="256032" cy="256032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87F5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AI-WRITING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Fakespot RoBERTa estimate for subjective answers and uploaded material, section by section.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614416"/>
            <a:ext cx="10698480" cy="4114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742432"/>
            <a:ext cx="10332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Internal service key on every endpoint except /health; models preload in the background so requests never wait.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11 / ENGINEERING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Running the full stack surfaced real issues—now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End-to-end runs with the real LLM, OCR, Whisper and detector drove these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304288"/>
            <a:ext cx="256032" cy="256032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B8A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B8A5"/>
                </a:solidFill>
                <a:latin typeface="Aptos"/>
              </a:rPr>
              <a:t>TOPICS BY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MiniLM embeddings join TF-IDF, so reworded questions on one topic group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2304288"/>
            <a:ext cx="256032" cy="256032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87F5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ROBUST LLM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gpt-oss ignored the JSON schema; it is now stated in the prompt and replies are parsed leniently.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103120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F0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63724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273D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22951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273D8"/>
                </a:solidFill>
                <a:latin typeface="Aptos"/>
              </a:rPr>
              <a:t>FAIRER MCQS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743200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Answer options are shuffled; duplicate options and repeated questions are dropped.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3941063"/>
            <a:ext cx="256032" cy="256032"/>
          </a:xfrm>
          <a:prstGeom prst="ellipse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B86B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NON-BLOCKING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Models load in the background; no request waits on a download.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26864" y="3941063"/>
            <a:ext cx="256032" cy="256032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7F78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SHORT 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No database connection is held while waiting on ML calls.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3739896"/>
            <a:ext cx="3401568" cy="1380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1040" y="3941063"/>
            <a:ext cx="256032" cy="256032"/>
          </a:xfrm>
          <a:prstGeom prst="ellipse">
            <a:avLst/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000500"/>
            <a:ext cx="2560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87F5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LOCKED-DOWN ML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4379976"/>
            <a:ext cx="296265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48C"/>
                </a:solidFill>
                <a:latin typeface="Aptos"/>
              </a:rPr>
              <a:t>The internal key is required on every ML endpoint except /health.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614416"/>
            <a:ext cx="10698480" cy="4114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742432"/>
            <a:ext cx="10332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Also fixed: test history stored the correct option instead of the learner’s actual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12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A small, containerised stack with clear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CEDF"/>
                </a:solidFill>
                <a:latin typeface="Aptos"/>
              </a:rPr>
              <a:t>Docker Compose brings the frontend, API, ML service, and persistent data stores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35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4CEDF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85416"/>
            <a:ext cx="2404872" cy="1316736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01 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6148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Browser UI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Static app on Nginx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2185416"/>
            <a:ext cx="2944368" cy="1316736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5928" y="245059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B8A5"/>
                </a:solidFill>
                <a:latin typeface="Aptos"/>
              </a:rPr>
              <a:t>02  APPLICATION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761488"/>
            <a:ext cx="2450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Spring Boot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Auth · business logic ·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2185416"/>
            <a:ext cx="2944368" cy="1316736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45059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A0FF"/>
                </a:solidFill>
                <a:latin typeface="Aptos"/>
              </a:rPr>
              <a:t>03  ML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761488"/>
            <a:ext cx="2450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Analysis · generation ·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361688"/>
            <a:ext cx="2962656" cy="1060704"/>
          </a:xfrm>
          <a:prstGeom prst="roundRect">
            <a:avLst>
              <a:gd name="adj" fmla="val 12000"/>
            </a:avLst>
          </a:prstGeom>
          <a:solidFill>
            <a:srgbClr val="263B60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457200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04  PERSISTENT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490118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PostgreSQL · uploads · models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91256" y="2825496"/>
            <a:ext cx="502920" cy="0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39128" y="2825496"/>
            <a:ext cx="521208" cy="0"/>
          </a:xfrm>
          <a:prstGeom prst="line">
            <a:avLst/>
          </a:prstGeom>
          <a:ln w="25400">
            <a:solidFill>
              <a:srgbClr val="B7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30368" y="3529584"/>
            <a:ext cx="0" cy="740664"/>
          </a:xfrm>
          <a:prstGeom prst="line">
            <a:avLst/>
          </a:prstGeom>
          <a:ln w="25400">
            <a:solidFill>
              <a:srgbClr val="22B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583680" y="3529584"/>
            <a:ext cx="1316736" cy="722376"/>
          </a:xfrm>
          <a:prstGeom prst="line">
            <a:avLst/>
          </a:prstGeom>
          <a:ln w="25400">
            <a:solidFill>
              <a:srgbClr val="B7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45536" y="2532888"/>
            <a:ext cx="667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4CEDF"/>
                </a:solidFill>
                <a:latin typeface="Aptos"/>
              </a:rPr>
              <a:t>HTTPS/API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2532888"/>
            <a:ext cx="704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4CEDF"/>
                </a:solidFill>
                <a:latin typeface="Aptos"/>
              </a:rPr>
              <a:t>Internal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4352544"/>
            <a:ext cx="2944368" cy="1078992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456285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B8A5"/>
                </a:solidFill>
                <a:latin typeface="Aptos"/>
              </a:rPr>
              <a:t>DEPLOYMENT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4882896"/>
            <a:ext cx="2441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Compose · health checks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JWT + internal service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89788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EDF"/>
                </a:solidFill>
                <a:latin typeface="Aptos"/>
              </a:rPr>
              <a:t>Runtime secrets and provider credentials are supplied through environment configuration.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13 / VALIDATION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243B"/>
                </a:solidFill>
                <a:latin typeface="Aptos"/>
              </a:rPr>
              <a:t>A testable foundation—and room to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074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48C"/>
                </a:solidFill>
                <a:latin typeface="Aptos"/>
              </a:rPr>
              <a:t>59 ML-service tests and 49 backend tests pass, plus end-to-end runs on the Docker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48C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39696"/>
            <a:ext cx="5193792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32304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8"/>
                </a:solidFill>
                <a:latin typeface="Aptos"/>
              </a:rPr>
              <a:t>VALIDATION IN PLACE</a:t>
            </a:r>
          </a:p>
        </p:txBody>
      </p:sp>
      <p:sp>
        <p:nvSpPr>
          <p:cNvPr id="10" name="Oval 9"/>
          <p:cNvSpPr/>
          <p:nvPr/>
        </p:nvSpPr>
        <p:spPr>
          <a:xfrm>
            <a:off x="1042415" y="3017520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926080"/>
            <a:ext cx="4306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Quiz flow, test history and authenticity integration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3511296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419856"/>
            <a:ext cx="4306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IRT probability, update, and selection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4005072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913632"/>
            <a:ext cx="4306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ML API, OCR, transcription, analysis and detector tests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5" y="4498848"/>
            <a:ext cx="82296" cy="822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4407408"/>
            <a:ext cx="4306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43B"/>
                </a:solidFill>
                <a:latin typeface="Aptos"/>
              </a:rPr>
              <a:t>End-to-end runs with the real LLM, OCR and Whisper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139696"/>
            <a:ext cx="5193792" cy="3136392"/>
          </a:xfrm>
          <a:prstGeom prst="roundRect">
            <a:avLst>
              <a:gd name="adj" fmla="val 12000"/>
            </a:avLst>
          </a:prstGeom>
          <a:solidFill>
            <a:srgbClr val="E9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432304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87F5"/>
                </a:solidFill>
                <a:latin typeface="Aptos"/>
              </a:rPr>
              <a:t>POSSIBLE NEXT STEPS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017520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7" y="2926080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Learner progress and topic mastery dashboards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511296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3419856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Educator tools for assigning and reviewing practice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005072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913632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Stronger AI-writing detection, evaluated on more data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498848"/>
            <a:ext cx="82296" cy="822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407408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243B"/>
                </a:solidFill>
                <a:latin typeface="Aptos"/>
              </a:rPr>
              <a:t>Expanded evaluation of generated questions and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66928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8"/>
                </a:solidFill>
                <a:latin typeface="Aptos"/>
              </a:rPr>
              <a:t>Current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596128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43B"/>
                </a:solidFill>
                <a:latin typeface="Aptos"/>
              </a:rPr>
              <a:t>A full-stack workflow joining source material, adaptive tests, self-review and interviews.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PROJECT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The people behind Smart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35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58368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4CEDF"/>
                </a:solidFill>
                <a:latin typeface="Aptos"/>
              </a:rPr>
              <a:t>SMART STUDY  ·  FINAL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2048256"/>
            <a:ext cx="6784848" cy="3840480"/>
          </a:xfrm>
          <a:prstGeom prst="roundRect">
            <a:avLst>
              <a:gd name="adj" fmla="val 12000"/>
            </a:avLst>
          </a:prstGeom>
          <a:solidFill>
            <a:srgbClr val="20345C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317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PROJECT TEAM</a:t>
            </a:r>
          </a:p>
        </p:txBody>
      </p:sp>
      <p:sp>
        <p:nvSpPr>
          <p:cNvPr id="10" name="Oval 9"/>
          <p:cNvSpPr/>
          <p:nvPr/>
        </p:nvSpPr>
        <p:spPr>
          <a:xfrm>
            <a:off x="1069848" y="2971799"/>
            <a:ext cx="310896" cy="310896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063239"/>
            <a:ext cx="3108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13D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443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Shravika Jain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9443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EDF"/>
                </a:solidFill>
                <a:latin typeface="Aptos"/>
              </a:rPr>
              <a:t>Roll No.: 23I7166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3328416"/>
            <a:ext cx="5559552" cy="0"/>
          </a:xfrm>
          <a:prstGeom prst="line">
            <a:avLst/>
          </a:prstGeom>
          <a:ln w="12700">
            <a:solidFill>
              <a:srgbClr val="435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69848" y="3886199"/>
            <a:ext cx="310896" cy="310896"/>
          </a:xfrm>
          <a:prstGeom prst="ellipse">
            <a:avLst/>
          </a:prstGeom>
          <a:solidFill>
            <a:srgbClr val="64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977639"/>
            <a:ext cx="3108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13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58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Taniksha Patidar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8587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EDF"/>
                </a:solidFill>
                <a:latin typeface="Aptos"/>
              </a:rPr>
              <a:t>Roll No.: 23I7173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4242816"/>
            <a:ext cx="5559552" cy="0"/>
          </a:xfrm>
          <a:prstGeom prst="line">
            <a:avLst/>
          </a:prstGeom>
          <a:ln w="12700">
            <a:solidFill>
              <a:srgbClr val="435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69848" y="4800600"/>
            <a:ext cx="310896" cy="310896"/>
          </a:xfrm>
          <a:prstGeom prst="ellipse">
            <a:avLst/>
          </a:prstGeom>
          <a:solidFill>
            <a:srgbClr val="92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892040"/>
            <a:ext cx="3108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13D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731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Siddhi Nagar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EDF"/>
                </a:solidFill>
                <a:latin typeface="Aptos"/>
              </a:rPr>
              <a:t>Roll No.: 23I7186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4480" y="5157216"/>
            <a:ext cx="5559552" cy="0"/>
          </a:xfrm>
          <a:prstGeom prst="line">
            <a:avLst/>
          </a:prstGeom>
          <a:ln w="12700">
            <a:solidFill>
              <a:srgbClr val="435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45552" y="2048256"/>
            <a:ext cx="3575304" cy="1874519"/>
          </a:xfrm>
          <a:prstGeom prst="roundRect">
            <a:avLst>
              <a:gd name="adj" fmla="val 12000"/>
            </a:avLst>
          </a:prstGeom>
          <a:solidFill>
            <a:srgbClr val="263B60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4" y="23317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B8A5"/>
                </a:solidFill>
                <a:latin typeface="Aptos"/>
              </a:rPr>
              <a:t>PROJECT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7304" y="2834640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Name: Dr. Hemant Makwana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3264408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CEDF"/>
                </a:solidFill>
                <a:latin typeface="Aptos"/>
              </a:rPr>
              <a:t>Department: Information Technology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5552" y="4187952"/>
            <a:ext cx="3575304" cy="1700784"/>
          </a:xfrm>
          <a:prstGeom prst="roundRect">
            <a:avLst>
              <a:gd name="adj" fmla="val 12000"/>
            </a:avLst>
          </a:prstGeom>
          <a:solidFill>
            <a:srgbClr val="263B60"/>
          </a:solidFill>
          <a:ln w="12700">
            <a:solidFill>
              <a:srgbClr val="435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4453128"/>
            <a:ext cx="2788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6B"/>
                </a:solidFill>
                <a:latin typeface="Aptos"/>
              </a:rPr>
              <a:t>INSTITUTION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4892040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Department: Information Technology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7304" y="528523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CEDF"/>
                </a:solidFill>
                <a:latin typeface="Aptos"/>
              </a:rPr>
              <a:t>Institute of Engineering and Technology,
DAVV, Indore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868680"/>
            <a:ext cx="2121408" cy="2121408"/>
          </a:xfrm>
          <a:prstGeom prst="ellipse">
            <a:avLst/>
          </a:prstGeom>
          <a:solidFill>
            <a:srgbClr val="20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325880"/>
            <a:ext cx="1207008" cy="1207008"/>
          </a:xfrm>
          <a:prstGeom prst="ellipse">
            <a:avLst/>
          </a:prstGeom>
          <a:solidFill>
            <a:srgbClr val="22B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74352" y="1719072"/>
            <a:ext cx="420624" cy="420624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877824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26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928115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6B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498079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Study smarter.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Prepare with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56616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B8A5"/>
                </a:solidFill>
                <a:latin typeface="Aptos"/>
              </a:rPr>
              <a:t>Smart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23367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CED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5020056"/>
            <a:ext cx="1417320" cy="45720"/>
          </a:xfrm>
          <a:prstGeom prst="rect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035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FC0D9"/>
                </a:solidFill>
                <a:latin typeface="Aptos"/>
              </a:rPr>
              <a:t>Adaptive Exam Practice &amp; Interview Preparation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6089904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6B"/>
                </a:solidFill>
                <a:latin typeface="Aptos"/>
              </a:rPr>
              <a:t>FINAL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CED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? Final Submission Presentation</dc:title>
  <dc:subject>Adaptive exam practice and interview preparation platform</dc:subject>
  <dc:creator>Smart Study Project Team</dc:creator>
  <cp:keywords>Smart Study, final year project, adaptive quiz, exam preparation, interview practice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