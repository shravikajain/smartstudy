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8" r:id="rId19"/>
    <p:sldId id="269" r:id="rId20"/>
    <p:sldId id="270" r:id="rId21"/>
    <p:sldId id="262" r:id="rId13"/>
    <p:sldId id="263" r:id="rId14"/>
    <p:sldId id="271" r:id="rId22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texts caught</c:v>
                </c:pt>
              </c:strCache>
            </c:strRef>
          </c:tx>
          <c:spPr>
            <a:solidFill>
              <a:srgbClr val="22B8A5"/>
            </a:solidFill>
          </c:spPr>
          <c:cat>
            <c:strRef>
              <c:f>Sheet1!$A$2:$A$4</c:f>
              <c:strCache>
                <c:ptCount val="3"/>
                <c:pt idx="0">
                  <c:v>Previous: chatgpt-detector (2023)</c:v>
                </c:pt>
                <c:pt idx="1">
                  <c:v>Fakespot RoBERTa (adopted)</c:v>
                </c:pt>
                <c:pt idx="2">
                  <c:v>e5-small LoRA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Human texts wrongly flagged</c:v>
                </c:pt>
              </c:strCache>
            </c:strRef>
          </c:tx>
          <c:spPr>
            <a:solidFill>
              <a:srgbClr val="FFB86B"/>
            </a:solidFill>
          </c:spPr>
          <c:cat>
            <c:strRef>
              <c:f>Sheet1!$A$2:$A$4</c:f>
              <c:strCache>
                <c:ptCount val="3"/>
                <c:pt idx="0">
                  <c:v>Previous: chatgpt-detector (2023)</c:v>
                </c:pt>
                <c:pt idx="1">
                  <c:v>Fakespot RoBERTa (adopted)</c:v>
                </c:pt>
                <c:pt idx="2">
                  <c:v>e5-small LoRA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824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FE5EF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>
          <c:spPr>
            <a:ln>
              <a:solidFill>
                <a:srgbClr val="E8ED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  <c:majorUnit val="2.0"/>
      </c:valAx>
    </c:plotArea>
    <c:legend>
      <c:legendPos val="t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000">
          <a:solidFill>
            <a:srgbClr val="66748C"/>
          </a:solidFill>
          <a:latin typeface="Apto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302752" y="475488"/>
            <a:ext cx="3337560" cy="3337560"/>
          </a:xfrm>
          <a:prstGeom prst="ellipse">
            <a:avLst/>
          </a:prstGeom>
          <a:solidFill>
            <a:srgbClr val="1E31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941832"/>
            <a:ext cx="2395728" cy="2395728"/>
          </a:xfrm>
          <a:prstGeom prst="ellipse">
            <a:avLst/>
          </a:prstGeom>
          <a:solidFill>
            <a:srgbClr val="243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272016" y="1426464"/>
            <a:ext cx="1417320" cy="1417320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10928" y="1865376"/>
            <a:ext cx="530352" cy="530352"/>
          </a:xfrm>
          <a:prstGeom prst="ellipse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91272" y="4251960"/>
            <a:ext cx="3246120" cy="475488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94192" y="4910328"/>
            <a:ext cx="2651760" cy="393192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5513832"/>
            <a:ext cx="3044952" cy="210312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768096"/>
            <a:ext cx="1755648" cy="292608"/>
          </a:xfrm>
          <a:prstGeom prst="roundRect">
            <a:avLst>
              <a:gd name="adj" fmla="val 12000"/>
            </a:avLst>
          </a:prstGeom>
          <a:solidFill>
            <a:srgbClr val="263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81838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6B"/>
                </a:solidFill>
                <a:latin typeface="Aptos"/>
              </a:rPr>
              <a:t>FINAL YEAR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417320"/>
            <a:ext cx="603504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Aptos"/>
              </a:rPr>
              <a:t>Smart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Aptos"/>
              </a:rPr>
              <a:t>Study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10128"/>
            <a:ext cx="69494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6DEEB"/>
                </a:solidFill>
                <a:latin typeface="Aptos"/>
              </a:rPr>
              <a:t>Adaptive Exam Practice &amp;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6DEEB"/>
                </a:solidFill>
                <a:latin typeface="Aptos"/>
              </a:rPr>
              <a:t>Interview Preparation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98848"/>
            <a:ext cx="658368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FC0D9"/>
                </a:solidFill>
                <a:latin typeface="Aptos"/>
              </a:rPr>
              <a:t>A smarter path from past papers to confident practice.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276088"/>
            <a:ext cx="1920240" cy="45720"/>
          </a:xfrm>
          <a:prstGeom prst="rect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5412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6B"/>
                </a:solidFill>
                <a:latin typeface="Aptos"/>
              </a:rPr>
              <a:t>SUBMISSION PRESENTATION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79592"/>
            <a:ext cx="51206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C0D9"/>
                </a:solidFill>
                <a:latin typeface="Aptos"/>
              </a:rPr>
              <a:t>Shravika Jain  ·  Taniksha Patidar  ·  Siddhi Nagar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FC0D9"/>
                </a:solidFill>
                <a:latin typeface="Aptos"/>
              </a:rPr>
              <a:t>Guided by Dr. Hemant Makwana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626364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FC0D9"/>
                </a:solidFill>
                <a:latin typeface="Aptos"/>
              </a:rPr>
              <a:t>SMART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01 / THE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Good preparation should be focused, not repetitive.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Students often have the material—but not an efficient way to turn it into targeted practice.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2103120"/>
            <a:ext cx="3456432" cy="2313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03120"/>
            <a:ext cx="64008" cy="2313432"/>
          </a:xfrm>
          <a:prstGeom prst="rect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3017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243B"/>
                </a:solidFill>
                <a:latin typeface="Aptos"/>
              </a:rPr>
              <a:t>Past papers stay static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39"/>
            <a:ext cx="3017520" cy="1435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6748C"/>
                </a:solidFill>
                <a:latin typeface="Aptos"/>
              </a:rPr>
              <a:t>Important themes are hard to spot across multiple papers; manually creating practice takes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2103120"/>
            <a:ext cx="3456432" cy="2313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2103120"/>
            <a:ext cx="64008" cy="2313432"/>
          </a:xfrm>
          <a:prstGeom prst="rect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286000"/>
            <a:ext cx="3017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243B"/>
                </a:solidFill>
                <a:latin typeface="Aptos"/>
              </a:rPr>
              <a:t>Practice is one-size-fits-all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834639"/>
            <a:ext cx="3017520" cy="1435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6748C"/>
                </a:solidFill>
                <a:latin typeface="Aptos"/>
              </a:rPr>
              <a:t>A fixed question sequence may not respond to what a learner already understands.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2103120"/>
            <a:ext cx="3456432" cy="2313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8431" y="2103120"/>
            <a:ext cx="64008" cy="2313432"/>
          </a:xfrm>
          <a:prstGeom prst="rect">
            <a:avLst/>
          </a:prstGeom>
          <a:solidFill>
            <a:srgbClr val="927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2286000"/>
            <a:ext cx="3017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243B"/>
                </a:solidFill>
                <a:latin typeface="Aptos"/>
              </a:rPr>
              <a:t>Feedback can stop at a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2834639"/>
            <a:ext cx="3017520" cy="1435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6748C"/>
                </a:solidFill>
                <a:latin typeface="Aptos"/>
              </a:rPr>
              <a:t>Written answers and interview readiness need more useful feedback than right or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855464"/>
            <a:ext cx="10744200" cy="832104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5074920"/>
            <a:ext cx="2240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SMART STUDY’S RESPONSE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00176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Convert learning material into a guided loop: discover → practise → reflect → improve.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02 / THE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From uploaded paper to a personal study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A single workflow connects source material, AI-assisted preparation, and adaptive practice.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2258568"/>
            <a:ext cx="621792" cy="621792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4323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72768" y="2569464"/>
            <a:ext cx="1819656" cy="0"/>
          </a:xfrm>
          <a:prstGeom prst="line">
            <a:avLst/>
          </a:prstGeom>
          <a:ln w="254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13232" y="3145536"/>
            <a:ext cx="2468880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55848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87F78"/>
                </a:solidFill>
                <a:latin typeface="Aptos"/>
              </a:rPr>
              <a:t>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49624"/>
            <a:ext cx="20848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43B"/>
                </a:solidFill>
                <a:latin typeface="Aptos"/>
              </a:rPr>
              <a:t>Bring your papers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20848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Upload past exam PDFs to a subject workspace.</a:t>
            </a:r>
          </a:p>
        </p:txBody>
      </p:sp>
      <p:sp>
        <p:nvSpPr>
          <p:cNvPr id="15" name="Oval 14"/>
          <p:cNvSpPr/>
          <p:nvPr/>
        </p:nvSpPr>
        <p:spPr>
          <a:xfrm>
            <a:off x="3630168" y="2258568"/>
            <a:ext cx="621792" cy="621792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4323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61688" y="2569464"/>
            <a:ext cx="1819656" cy="0"/>
          </a:xfrm>
          <a:prstGeom prst="line">
            <a:avLst/>
          </a:prstGeom>
          <a:ln w="254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02152" y="3145536"/>
            <a:ext cx="2468880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3355848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6487F5"/>
                </a:solidFill>
                <a:latin typeface="Aptos"/>
              </a:rPr>
              <a:t>MAP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849624"/>
            <a:ext cx="20848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43B"/>
                </a:solidFill>
                <a:latin typeface="Aptos"/>
              </a:rPr>
              <a:t>Find the 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4297680"/>
            <a:ext cx="20848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Extract text, identify topics, and organise the material.</a:t>
            </a:r>
          </a:p>
        </p:txBody>
      </p:sp>
      <p:sp>
        <p:nvSpPr>
          <p:cNvPr id="22" name="Oval 21"/>
          <p:cNvSpPr/>
          <p:nvPr/>
        </p:nvSpPr>
        <p:spPr>
          <a:xfrm>
            <a:off x="6419088" y="2258568"/>
            <a:ext cx="621792" cy="621792"/>
          </a:xfrm>
          <a:prstGeom prst="ellipse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4323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50608" y="2569464"/>
            <a:ext cx="1819656" cy="0"/>
          </a:xfrm>
          <a:prstGeom prst="line">
            <a:avLst/>
          </a:prstGeom>
          <a:ln w="254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91072" y="3145536"/>
            <a:ext cx="2468880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355848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273D8"/>
                </a:solidFill>
                <a:latin typeface="Aptos"/>
              </a:rPr>
              <a:t>Q+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849624"/>
            <a:ext cx="20848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43B"/>
                </a:solidFill>
                <a:latin typeface="Aptos"/>
              </a:rPr>
              <a:t>Build a practice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297680"/>
            <a:ext cx="20848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Generate MCQ, written, or mixed-format questions.</a:t>
            </a:r>
          </a:p>
        </p:txBody>
      </p:sp>
      <p:sp>
        <p:nvSpPr>
          <p:cNvPr id="29" name="Oval 28"/>
          <p:cNvSpPr/>
          <p:nvPr/>
        </p:nvSpPr>
        <p:spPr>
          <a:xfrm>
            <a:off x="9208007" y="2258568"/>
            <a:ext cx="621792" cy="621792"/>
          </a:xfrm>
          <a:prstGeom prst="ellipse">
            <a:avLst/>
          </a:prstGeom>
          <a:solidFill>
            <a:srgbClr val="927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08007" y="24323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9991" y="3145536"/>
            <a:ext cx="2468880" cy="19385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81159" y="3355848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87F78"/>
                </a:solidFill>
                <a:latin typeface="Aptos"/>
              </a:rPr>
              <a:t>IRT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59" y="3849624"/>
            <a:ext cx="20848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43B"/>
                </a:solidFill>
                <a:latin typeface="Aptos"/>
              </a:rPr>
              <a:t>Learn at your level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59" y="4297680"/>
            <a:ext cx="2084831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Answer, get feedback, and review every saved test later.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" y="5605272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87F78"/>
                </a:solidFill>
                <a:latin typeface="Aptos"/>
              </a:rPr>
              <a:t>Learner stays in control: choose a subject, pick MCQ, subjective or both, and work through a session.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03 /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One platform. Three meaningful practice contexts.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Designed for learners preparing for exams, written assessments, and interviews.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2139696"/>
            <a:ext cx="3401568" cy="3182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2395728"/>
            <a:ext cx="502920" cy="502920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551176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2B8A5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3639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43B"/>
                </a:solidFill>
                <a:latin typeface="Aptos"/>
              </a:rPr>
              <a:t>EXAM PREPARATION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75887"/>
            <a:ext cx="28529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48C"/>
                </a:solidFill>
                <a:latin typeface="Aptos"/>
              </a:rPr>
              <a:t>Turn previous papers into fresh, topic-aware practice.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" y="4535424"/>
            <a:ext cx="2889504" cy="0"/>
          </a:xfrm>
          <a:prstGeom prst="line">
            <a:avLst/>
          </a:prstGeom>
          <a:ln w="127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1832" y="4690872"/>
            <a:ext cx="28529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2B8A5"/>
                </a:solidFill>
                <a:latin typeface="Aptos"/>
              </a:rPr>
              <a:t>Upload a paper → review extracted topics → practise generated questions.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1" y="2139696"/>
            <a:ext cx="3401568" cy="3182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17719" y="2395728"/>
            <a:ext cx="502920" cy="502920"/>
          </a:xfrm>
          <a:prstGeom prst="ellipse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19" y="2551176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19" y="313639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43B"/>
                </a:solidFill>
                <a:latin typeface="Aptos"/>
              </a:rPr>
              <a:t>WRITTEN-ANSWER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19" y="3675887"/>
            <a:ext cx="28529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48C"/>
                </a:solidFill>
                <a:latin typeface="Aptos"/>
              </a:rPr>
              <a:t>Go beyond multiple choice with evaluated written responses.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17719" y="4535424"/>
            <a:ext cx="2889504" cy="0"/>
          </a:xfrm>
          <a:prstGeom prst="line">
            <a:avLst/>
          </a:prstGeom>
          <a:ln w="127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17719" y="4690872"/>
            <a:ext cx="28529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487F5"/>
                </a:solidFill>
                <a:latin typeface="Aptos"/>
              </a:rPr>
              <a:t>Submit text or an answer PDF → receive a score, feedback and an AI-writing estimate.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19" y="2139696"/>
            <a:ext cx="3401568" cy="3182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93607" y="2395728"/>
            <a:ext cx="502920" cy="502920"/>
          </a:xfrm>
          <a:prstGeom prst="ellipse">
            <a:avLst/>
          </a:prstGeom>
          <a:solidFill>
            <a:srgbClr val="F0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2551176"/>
            <a:ext cx="502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273D8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7" y="313639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8243B"/>
                </a:solidFill>
                <a:latin typeface="Aptos"/>
              </a:rPr>
              <a:t>INTERVIEW REHEARSAL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7" y="3675887"/>
            <a:ext cx="285292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748C"/>
                </a:solidFill>
                <a:latin typeface="Aptos"/>
              </a:rPr>
              <a:t>Practise subject or engineering-role questions at a chosen level.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93607" y="4535424"/>
            <a:ext cx="2889504" cy="0"/>
          </a:xfrm>
          <a:prstGeom prst="line">
            <a:avLst/>
          </a:prstGeom>
          <a:ln w="127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93607" y="4690872"/>
            <a:ext cx="28529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273D8"/>
                </a:solidFill>
                <a:latin typeface="Aptos"/>
              </a:rPr>
              <a:t>Respond in text or dictate an answer; local Whisper transcription is supported.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5596128"/>
            <a:ext cx="10771632" cy="475488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5733288"/>
            <a:ext cx="10378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A learner can move from understanding the material to practising how they will be assessed.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04 / CONTENT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A practical bridge between old papers and new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Question generation can use extracted text and scanned-paper OCR; question types are configurable.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304288"/>
            <a:ext cx="2139696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78408" y="2487168"/>
            <a:ext cx="512064" cy="292608"/>
          </a:xfrm>
          <a:prstGeom prst="roundRect">
            <a:avLst>
              <a:gd name="adj" fmla="val 12000"/>
            </a:avLst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537460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87F78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98648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8243B"/>
                </a:solidFill>
                <a:latin typeface="Aptos"/>
              </a:rPr>
              <a:t>PDF papers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236976"/>
            <a:ext cx="1847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Upload 1–5 papers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80944" y="2944368"/>
            <a:ext cx="274320" cy="0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10128" y="2304288"/>
            <a:ext cx="2139696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65576" y="2487168"/>
            <a:ext cx="512064" cy="292608"/>
          </a:xfrm>
          <a:prstGeom prst="roundRect">
            <a:avLst>
              <a:gd name="adj" fmla="val 12000"/>
            </a:avLst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2537460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87F78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2898648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8243B"/>
                </a:solidFill>
                <a:latin typeface="Aptos"/>
              </a:rPr>
              <a:t>Text &amp; topics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3236976"/>
            <a:ext cx="1847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Extract / OCR, cluster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68112" y="2944368"/>
            <a:ext cx="274320" cy="0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797296" y="2304288"/>
            <a:ext cx="2139696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952744" y="2487168"/>
            <a:ext cx="512064" cy="292608"/>
          </a:xfrm>
          <a:prstGeom prst="roundRect">
            <a:avLst>
              <a:gd name="adj" fmla="val 12000"/>
            </a:avLst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62472" y="2537460"/>
            <a:ext cx="29260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87F78"/>
                </a:solidFill>
                <a:latin typeface="Apto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2898648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8243B"/>
                </a:solidFill>
                <a:latin typeface="Aptos"/>
              </a:rPr>
              <a:t>Question set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3236976"/>
            <a:ext cx="18470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MCQ, subjective or both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03120"/>
            <a:ext cx="3182112" cy="3163824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67928" y="2395728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BUILT-IN GUARDRAILS</a:t>
            </a:r>
          </a:p>
        </p:txBody>
      </p:sp>
      <p:sp>
        <p:nvSpPr>
          <p:cNvPr id="27" name="Oval 26"/>
          <p:cNvSpPr/>
          <p:nvPr/>
        </p:nvSpPr>
        <p:spPr>
          <a:xfrm>
            <a:off x="8567928" y="2953512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9096" y="2862072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1–5 PDFs per generation request</a:t>
            </a:r>
          </a:p>
        </p:txBody>
      </p:sp>
      <p:sp>
        <p:nvSpPr>
          <p:cNvPr id="29" name="Oval 28"/>
          <p:cNvSpPr/>
          <p:nvPr/>
        </p:nvSpPr>
        <p:spPr>
          <a:xfrm>
            <a:off x="8567928" y="3474720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9096" y="3383280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1–50 questions per request</a:t>
            </a:r>
          </a:p>
        </p:txBody>
      </p:sp>
      <p:sp>
        <p:nvSpPr>
          <p:cNvPr id="31" name="Oval 30"/>
          <p:cNvSpPr/>
          <p:nvPr/>
        </p:nvSpPr>
        <p:spPr>
          <a:xfrm>
            <a:off x="8567928" y="3995927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69096" y="3904487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Saved bank, practised by type</a:t>
            </a:r>
          </a:p>
        </p:txBody>
      </p:sp>
      <p:sp>
        <p:nvSpPr>
          <p:cNvPr id="33" name="Oval 32"/>
          <p:cNvSpPr/>
          <p:nvPr/>
        </p:nvSpPr>
        <p:spPr>
          <a:xfrm>
            <a:off x="8567928" y="4517136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9096" y="4425696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Aptos"/>
              </a:rPr>
              <a:t>Subjective answers: text or PDF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133087"/>
            <a:ext cx="219456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8243B"/>
                </a:solidFill>
                <a:latin typeface="Aptos"/>
              </a:rPr>
              <a:t>Why this matters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4562856"/>
            <a:ext cx="690372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48C"/>
                </a:solidFill>
                <a:latin typeface="Aptos"/>
              </a:rPr>
              <a:t>Learners start with familiar course material, while the platform helps make it easier to review recurring topics and generate fresh practice.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596128"/>
            <a:ext cx="6903720" cy="393192"/>
          </a:xfrm>
          <a:prstGeom prst="roundRect">
            <a:avLst>
              <a:gd name="adj" fmla="val 12000"/>
            </a:avLst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05856"/>
            <a:ext cx="6537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7F78"/>
                </a:solidFill>
                <a:latin typeface="Aptos"/>
              </a:rPr>
              <a:t>Scanned PDFs can be processed through the ML service OCR endpoint.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05 / ADAPTIVE QUIZZING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The next question responds to learner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The backend uses an IRT-inspired ability estimate to select a question near the learner’s current level.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03120"/>
            <a:ext cx="6812280" cy="35478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8658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THE QUIZ LOOP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" y="3017520"/>
            <a:ext cx="484632" cy="484632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136391"/>
            <a:ext cx="48463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B8A5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73075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4078224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Correct / incorrect</a:t>
            </a:r>
          </a:p>
        </p:txBody>
      </p:sp>
      <p:sp>
        <p:nvSpPr>
          <p:cNvPr id="14" name="Oval 13"/>
          <p:cNvSpPr/>
          <p:nvPr/>
        </p:nvSpPr>
        <p:spPr>
          <a:xfrm>
            <a:off x="2971800" y="3017520"/>
            <a:ext cx="484632" cy="484632"/>
          </a:xfrm>
          <a:prstGeom prst="ellipse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3136391"/>
            <a:ext cx="48463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6487F5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7208" y="373075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Update 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8" y="4078224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Estimate learner level</a:t>
            </a:r>
          </a:p>
        </p:txBody>
      </p:sp>
      <p:sp>
        <p:nvSpPr>
          <p:cNvPr id="18" name="Oval 17"/>
          <p:cNvSpPr/>
          <p:nvPr/>
        </p:nvSpPr>
        <p:spPr>
          <a:xfrm>
            <a:off x="4910328" y="3017520"/>
            <a:ext cx="484632" cy="484632"/>
          </a:xfrm>
          <a:prstGeom prst="ellipse">
            <a:avLst/>
          </a:prstGeom>
          <a:solidFill>
            <a:srgbClr val="F0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3136391"/>
            <a:ext cx="484632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9273D8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373075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Select 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5736" y="4078224"/>
            <a:ext cx="16459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Closest difficulty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82496" y="3264408"/>
            <a:ext cx="1188720" cy="0"/>
          </a:xfrm>
          <a:prstGeom prst="line">
            <a:avLst/>
          </a:prstGeom>
          <a:ln w="254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30168" y="3264408"/>
            <a:ext cx="1188720" cy="0"/>
          </a:xfrm>
          <a:prstGeom prst="line">
            <a:avLst/>
          </a:prstGeom>
          <a:ln w="25400">
            <a:solidFill>
              <a:srgbClr val="DF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13832" y="3877056"/>
            <a:ext cx="0" cy="841248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43584" y="4718304"/>
            <a:ext cx="4270248" cy="0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243584" y="3657600"/>
            <a:ext cx="0" cy="1060704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468880" y="48554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repeat for the session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03120"/>
            <a:ext cx="3575304" cy="3547872"/>
          </a:xfrm>
          <a:prstGeom prst="roundRect">
            <a:avLst>
              <a:gd name="adj" fmla="val 12000"/>
            </a:avLst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2168" y="2423160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87F5"/>
                </a:solidFill>
                <a:latin typeface="Aptos"/>
              </a:rPr>
              <a:t>WHAT THE ENGINE TRACKS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28986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Ability estimate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3182112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Updated after each response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8" y="3648456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Question difficulty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3931920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Compared with current 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4398264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Session progress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4681727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48C"/>
                </a:solidFill>
                <a:latin typeface="Aptos"/>
              </a:rPr>
              <a:t>Saved to My tests for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907024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Implementation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5833872"/>
            <a:ext cx="850392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48C"/>
                </a:solidFill>
                <a:latin typeface="Aptos"/>
              </a:rPr>
              <a:t>The current engine uses a bounded logistic probability model and selects the available question whose difficulty is nearest to estimated 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06 / PRACTICE &amp; SELF-REVIEW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Practise by question type, then review every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Learners choose MCQ, subjective or both from their question bank; every test is saved for self-evaluation.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39696"/>
            <a:ext cx="4724400" cy="330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32304"/>
            <a:ext cx="4434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7F78"/>
                </a:solidFill>
                <a:latin typeface="Aptos"/>
              </a:rPr>
              <a:t>HOW IT WORKS</a:t>
            </a:r>
          </a:p>
        </p:txBody>
      </p:sp>
      <p:sp>
        <p:nvSpPr>
          <p:cNvPr id="10" name="Oval 9"/>
          <p:cNvSpPr/>
          <p:nvPr/>
        </p:nvSpPr>
        <p:spPr>
          <a:xfrm>
            <a:off x="1042415" y="3017520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926080"/>
            <a:ext cx="396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Pick MCQ, subjective or both, and the test length</a:t>
            </a:r>
          </a:p>
        </p:txBody>
      </p:sp>
      <p:sp>
        <p:nvSpPr>
          <p:cNvPr id="12" name="Oval 11"/>
          <p:cNvSpPr/>
          <p:nvPr/>
        </p:nvSpPr>
        <p:spPr>
          <a:xfrm>
            <a:off x="1042415" y="3511296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419856"/>
            <a:ext cx="396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Adaptive difficulty still chooses each next question</a:t>
            </a:r>
          </a:p>
        </p:txBody>
      </p:sp>
      <p:sp>
        <p:nvSpPr>
          <p:cNvPr id="14" name="Oval 13"/>
          <p:cNvSpPr/>
          <p:nvPr/>
        </p:nvSpPr>
        <p:spPr>
          <a:xfrm>
            <a:off x="1042415" y="4005072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3913632"/>
            <a:ext cx="396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My tests lists every attempt with its score and date</a:t>
            </a:r>
          </a:p>
        </p:txBody>
      </p:sp>
      <p:sp>
        <p:nvSpPr>
          <p:cNvPr id="16" name="Oval 15"/>
          <p:cNvSpPr/>
          <p:nvPr/>
        </p:nvSpPr>
        <p:spPr>
          <a:xfrm>
            <a:off x="1042415" y="4498848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4407408"/>
            <a:ext cx="396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Review: your answer, grade, feedback, model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669280"/>
            <a:ext cx="1270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Saved per answer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400" y="5596128"/>
            <a:ext cx="8890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8243B"/>
                </a:solidFill>
                <a:latin typeface="Aptos"/>
              </a:rPr>
              <a:t>Answer text · score · feedback · AI-writing probability and flag · time answered</a:t>
            </a:r>
          </a:p>
        </p:txBody>
      </p:sp>
      <p:pic>
        <p:nvPicPr>
          <p:cNvPr id="30" name="Practice panel screenshot" descr="Take a test from your question bank: question type Both (6), 6 questions and a Start test butt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297" y="2133600"/>
            <a:ext cx="5471805" cy="1092874"/>
          </a:xfrm>
          <a:prstGeom prst="rect">
            <a:avLst/>
          </a:prstGeom>
          <a:ln w="9525">
            <a:solidFill>
              <a:srgbClr val="DFE5EF"/>
            </a:solidFill>
          </a:ln>
        </p:spPr>
      </p:pic>
      <p:pic>
        <p:nvPicPr>
          <p:cNvPr id="31" name="Test review screenshot" descr="Test review of a written answer on Kruskal's algorithm: the answer, feedback, a 0% score and an AI-writing check of 37%, uncertai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492" y="3340100"/>
            <a:ext cx="5419416" cy="2076461"/>
          </a:xfrm>
          <a:prstGeom prst="rect">
            <a:avLst/>
          </a:prstGeom>
          <a:ln w="9525">
            <a:solidFill>
              <a:srgbClr val="DFE5EF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07 / WRITING AUTHENTICITY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An advisory AI-writing check, built in and standalone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Subjective answers get an AI-writing estimate, and learners can check their own notes or essays.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0" y="2139696"/>
            <a:ext cx="4787900" cy="2984500"/>
          </a:xfrm>
          <a:prstGeom prst="roundRect">
            <a:avLst>
              <a:gd name="adj" fmla="val 12000"/>
            </a:avLst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3400" y="2432304"/>
            <a:ext cx="4434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WHERE IT IS USED</a:t>
            </a:r>
          </a:p>
        </p:txBody>
      </p:sp>
      <p:sp>
        <p:nvSpPr>
          <p:cNvPr id="20" name="Oval 19"/>
          <p:cNvSpPr/>
          <p:nvPr/>
        </p:nvSpPr>
        <p:spPr>
          <a:xfrm>
            <a:off x="6896100" y="3017520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99300" y="2926080"/>
            <a:ext cx="403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Shown with graded answers; never changes the grade</a:t>
            </a:r>
          </a:p>
        </p:txBody>
      </p:sp>
      <p:sp>
        <p:nvSpPr>
          <p:cNvPr id="22" name="Oval 21"/>
          <p:cNvSpPr/>
          <p:nvPr/>
        </p:nvSpPr>
        <p:spPr>
          <a:xfrm>
            <a:off x="6896100" y="3511296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9300" y="3419856"/>
            <a:ext cx="403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Standalone check: paste text or upload PDF, .txt or .md</a:t>
            </a:r>
          </a:p>
        </p:txBody>
      </p:sp>
      <p:sp>
        <p:nvSpPr>
          <p:cNvPr id="24" name="Oval 23"/>
          <p:cNvSpPr/>
          <p:nvPr/>
        </p:nvSpPr>
        <p:spPr>
          <a:xfrm>
            <a:off x="6896100" y="4005072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99300" y="3913632"/>
            <a:ext cx="403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Long documents are scored section by section</a:t>
            </a:r>
          </a:p>
        </p:txBody>
      </p:sp>
      <p:sp>
        <p:nvSpPr>
          <p:cNvPr id="26" name="Oval 25"/>
          <p:cNvSpPr/>
          <p:nvPr/>
        </p:nvSpPr>
        <p:spPr>
          <a:xfrm>
            <a:off x="6896100" y="4498848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9300" y="4407408"/>
            <a:ext cx="403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Only the scores are saved; the text itself is not stored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669280"/>
            <a:ext cx="1270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Advisory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400" y="5596128"/>
            <a:ext cx="8890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8243B"/>
                </a:solidFill>
                <a:latin typeface="Aptos"/>
              </a:rPr>
              <a:t>Detection can be wrong in both directions, so it is never treated as proof of authorship.</a:t>
            </a:r>
          </a:p>
        </p:txBody>
      </p:sp>
      <p:pic>
        <p:nvPicPr>
          <p:cNvPr id="30" name="Authenticity result screenshot" descr="Authenticity check of 7,260 characters: overall 42%, uncertain; section 3 likely AI-written at 68%, section 4 likely human-written at 34%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64" y="2133600"/>
            <a:ext cx="4737672" cy="2531908"/>
          </a:xfrm>
          <a:prstGeom prst="rect">
            <a:avLst/>
          </a:prstGeom>
          <a:ln w="9525">
            <a:solidFill>
              <a:srgbClr val="DFE5EF"/>
            </a:solidFill>
          </a:ln>
        </p:spPr>
      </p:pic>
      <p:sp>
        <p:nvSpPr>
          <p:cNvPr id="31" name="Band high"/>
          <p:cNvSpPr/>
          <p:nvPr/>
        </p:nvSpPr>
        <p:spPr>
          <a:xfrm>
            <a:off x="749300" y="4838700"/>
            <a:ext cx="1778000" cy="279400"/>
          </a:xfrm>
          <a:prstGeom prst="roundRect">
            <a:avLst/>
          </a:prstGeom>
          <a:solidFill>
            <a:srgbClr val="FF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0" bIns="0"/>
          <a:lstStyle/>
          <a:p>
            <a:pPr algn="ctr"/>
            <a:r>
              <a:rPr sz="950" b="1">
                <a:solidFill>
                  <a:srgbClr val="B64646"/>
                </a:solidFill>
                <a:latin typeface="Aptos"/>
              </a:rPr>
              <a:t>≥ 60%  Likely AI-written</a:t>
            </a:r>
          </a:p>
        </p:txBody>
      </p:sp>
      <p:sp>
        <p:nvSpPr>
          <p:cNvPr id="32" name="Band mid"/>
          <p:cNvSpPr/>
          <p:nvPr/>
        </p:nvSpPr>
        <p:spPr>
          <a:xfrm>
            <a:off x="2654300" y="4838700"/>
            <a:ext cx="1778000" cy="279400"/>
          </a:xfrm>
          <a:prstGeom prst="roundRect">
            <a:avLst/>
          </a:prstGeom>
          <a:solidFill>
            <a:srgbClr val="F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0" bIns="0"/>
          <a:lstStyle/>
          <a:p>
            <a:pPr algn="ctr"/>
            <a:r>
              <a:rPr sz="950" b="1">
                <a:solidFill>
                  <a:srgbClr val="8A6412"/>
                </a:solidFill>
                <a:latin typeface="Aptos"/>
              </a:rPr>
              <a:t>35–60%  Uncertain</a:t>
            </a:r>
          </a:p>
        </p:txBody>
      </p:sp>
      <p:sp>
        <p:nvSpPr>
          <p:cNvPr id="33" name="Band low"/>
          <p:cNvSpPr/>
          <p:nvPr/>
        </p:nvSpPr>
        <p:spPr>
          <a:xfrm>
            <a:off x="4559300" y="4838700"/>
            <a:ext cx="1778000" cy="279400"/>
          </a:xfrm>
          <a:prstGeom prst="roundRect">
            <a:avLst/>
          </a:prstGeom>
          <a:solidFill>
            <a:srgbClr val="E6F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0" bIns="0"/>
          <a:lstStyle/>
          <a:p>
            <a:pPr algn="ctr"/>
            <a:r>
              <a:rPr sz="950" b="1">
                <a:solidFill>
                  <a:srgbClr val="2F7A52"/>
                </a:solidFill>
                <a:latin typeface="Aptos"/>
              </a:rPr>
              <a:t>&lt; 35%  Likely human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08 / DETECTOR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We tested the detector—and replaced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8 answers written by gpt-oss:120b and 8 human-written passages, scored at the 0.6 flag threshold.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39696"/>
            <a:ext cx="6604000" cy="3136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32304"/>
            <a:ext cx="596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7F78"/>
                </a:solidFill>
                <a:latin typeface="Aptos"/>
              </a:rPr>
              <a:t>RESULTS OUT OF 8 TEXTS EACH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139696"/>
            <a:ext cx="3771900" cy="3136392"/>
          </a:xfrm>
          <a:prstGeom prst="roundRect">
            <a:avLst>
              <a:gd name="adj" fmla="val 12000"/>
            </a:avLst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74000" y="2432304"/>
            <a:ext cx="330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WHAT WE CONCLUDED</a:t>
            </a:r>
          </a:p>
        </p:txBody>
      </p:sp>
      <p:sp>
        <p:nvSpPr>
          <p:cNvPr id="20" name="Oval 19"/>
          <p:cNvSpPr/>
          <p:nvPr/>
        </p:nvSpPr>
        <p:spPr>
          <a:xfrm>
            <a:off x="7886700" y="3017520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9900" y="2926080"/>
            <a:ext cx="3124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The previous model flagged none of the 8 AI answers</a:t>
            </a:r>
          </a:p>
        </p:txBody>
      </p:sp>
      <p:sp>
        <p:nvSpPr>
          <p:cNvPr id="22" name="Oval 21"/>
          <p:cNvSpPr/>
          <p:nvPr/>
        </p:nvSpPr>
        <p:spPr>
          <a:xfrm>
            <a:off x="7886700" y="3511296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9900" y="3419856"/>
            <a:ext cx="3124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Fakespot caught the most AI text, with fewer false flags than e5-small</a:t>
            </a:r>
          </a:p>
        </p:txBody>
      </p:sp>
      <p:sp>
        <p:nvSpPr>
          <p:cNvPr id="24" name="Oval 23"/>
          <p:cNvSpPr/>
          <p:nvPr/>
        </p:nvSpPr>
        <p:spPr>
          <a:xfrm>
            <a:off x="7886700" y="4005072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9900" y="3913632"/>
            <a:ext cx="3124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No small open model was reliable, so scores stay advisory</a:t>
            </a:r>
          </a:p>
        </p:txBody>
      </p:sp>
      <p:sp>
        <p:nvSpPr>
          <p:cNvPr id="26" name="Oval 25"/>
          <p:cNvSpPr/>
          <p:nvPr/>
        </p:nvSpPr>
        <p:spPr>
          <a:xfrm>
            <a:off x="7886700" y="4498848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9900" y="4407408"/>
            <a:ext cx="3124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16 texts is an indicative check, not a benchmark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669280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06600" y="5596128"/>
            <a:ext cx="9271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8243B"/>
                </a:solidFill>
                <a:latin typeface="Aptos"/>
              </a:rPr>
              <a:t>Switched to fakespot-ai/roberta-base-ai-text-detection-v1, pinned to a fixed model revision.</a:t>
            </a:r>
          </a:p>
        </p:txBody>
      </p:sp>
      <p:graphicFrame>
        <p:nvGraphicFramePr>
          <p:cNvPr id="30" name="Detector evaluation chart"/>
          <p:cNvGraphicFramePr>
            <a:graphicFrameLocks noGrp="1"/>
          </p:cNvGraphicFramePr>
          <p:nvPr/>
        </p:nvGraphicFramePr>
        <p:xfrm>
          <a:off x="914400" y="2692400"/>
          <a:ext cx="6273800" cy="248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09 / BACKEND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Spring Boot is the application’s control plane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It owns identity, domain data, quiz orchestration, and the contract between the browser, database, and ML service.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30552"/>
            <a:ext cx="216712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30552"/>
            <a:ext cx="2167128" cy="109728"/>
          </a:xfrm>
          <a:prstGeom prst="rect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50592"/>
            <a:ext cx="1801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2B8A5"/>
                </a:solidFill>
                <a:latin typeface="Aptos"/>
              </a:rPr>
              <a:t>API CONTROLLERS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44952"/>
            <a:ext cx="1801368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Auth · subjects · topics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Papers · quizzes · tests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Authenticity checks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Interviews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4096" y="2130552"/>
            <a:ext cx="230428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4096" y="2130552"/>
            <a:ext cx="2304288" cy="109728"/>
          </a:xfrm>
          <a:prstGeom prst="rect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6976" y="245059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DOMAIN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6976" y="3044952"/>
            <a:ext cx="1938528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Validation &amp; ownership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Paper / quiz orchestration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Evaluation &amp; test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04688" y="2130552"/>
            <a:ext cx="2313432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04688" y="2130552"/>
            <a:ext cx="2313432" cy="109728"/>
          </a:xfrm>
          <a:prstGeom prst="rect">
            <a:avLst/>
          </a:prstGeom>
          <a:solidFill>
            <a:srgbClr val="927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87568" y="2450592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273D8"/>
                </a:solidFill>
                <a:latin typeface="Aptos"/>
              </a:rPr>
              <a:t>PERSISTENCE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3044952"/>
            <a:ext cx="1947672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Spring Data JPA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Users · subjects · topics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Questions · tests ·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2130552"/>
            <a:ext cx="34930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4424" y="2130552"/>
            <a:ext cx="3493008" cy="109728"/>
          </a:xfrm>
          <a:prstGeom prst="rect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7304" y="2450592"/>
            <a:ext cx="3127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6B"/>
                </a:solidFill>
                <a:latin typeface="Aptos"/>
              </a:rPr>
              <a:t>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7304" y="3044952"/>
            <a:ext cx="3127248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PostgreSQL data store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ML service via typed HTTP client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43B"/>
                </a:solidFill>
                <a:latin typeface="Aptos"/>
              </a:rPr>
              <a:t>PDF text extraction &amp; file storage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703320"/>
            <a:ext cx="91440" cy="0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85816" y="3703320"/>
            <a:ext cx="91439" cy="0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45552" y="3703320"/>
            <a:ext cx="91440" cy="0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49808" y="5577840"/>
            <a:ext cx="10689336" cy="530352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751576"/>
            <a:ext cx="102870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JWT-protected user flows  ·  user-scoped records  ·  readable ML errors  ·  no DB connection held during ML calls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10 / INTELLIGENCE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Focused ML capabilities behind a clear service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A separate FastAPI service handles AI-assisted tasks while the backend remains responsible for app workflows.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04288"/>
            <a:ext cx="256032" cy="256032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63724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B8A5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95144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2B8A5"/>
                </a:solidFill>
                <a:latin typeface="Aptos"/>
              </a:rPr>
              <a:t>PAPER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Cluster topics with TF-IDF + MiniLM sentence embeddings; find questions repeated across papers.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103120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26864" y="2304288"/>
            <a:ext cx="256032" cy="256032"/>
          </a:xfrm>
          <a:prstGeom prst="ellipse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363724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87F5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2295144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QUESTION GENERATION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743200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Create MCQ, subjective, or mixed sets; options are shuffled and duplicates removed.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21040" y="2304288"/>
            <a:ext cx="256032" cy="256032"/>
          </a:xfrm>
          <a:prstGeom prst="ellipse">
            <a:avLst/>
          </a:prstGeom>
          <a:solidFill>
            <a:srgbClr val="F0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363724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273D8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41664" y="2295144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273D8"/>
                </a:solidFill>
                <a:latin typeface="Aptos"/>
              </a:rPr>
              <a:t>WRITTEN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743200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Grade a subjective response and return a score with feedback.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39896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2688" y="3941063"/>
            <a:ext cx="256032" cy="256032"/>
          </a:xfrm>
          <a:prstGeom prst="ellipse">
            <a:avLst/>
          </a:prstGeom>
          <a:solidFill>
            <a:srgbClr val="FF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000500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B86B"/>
                </a:solidFill>
                <a:latin typeface="Apto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931920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6B"/>
                </a:solidFill>
                <a:latin typeface="Aptos"/>
              </a:rPr>
              <a:t>INTERVIEW PRACTICE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4379976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Generate the next turn for a subject or engineering-role interview.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5696" y="3739896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26864" y="3941063"/>
            <a:ext cx="256032" cy="256032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4000500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7F78"/>
                </a:solidFill>
                <a:latin typeface="Apto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931920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7F78"/>
                </a:solidFill>
                <a:latin typeface="Aptos"/>
              </a:rPr>
              <a:t>OCR + VOICE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8" y="4379976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OCR for scanned PDFs; local CPU Whisper transcription for interview audio.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2" y="3739896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21040" y="3941063"/>
            <a:ext cx="256032" cy="256032"/>
          </a:xfrm>
          <a:prstGeom prst="ellipse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4000500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87F5"/>
                </a:solidFill>
                <a:latin typeface="Apto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3931920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AI-WRITING DETECTION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0184" y="4379976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Fakespot RoBERTa estimate for subjective answers and uploaded material, section by section.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614416"/>
            <a:ext cx="10698480" cy="41148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5742432"/>
            <a:ext cx="10332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Internal service key on every endpoint except /health; models preload in the background so requests never wait.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11 / ENGINEERING HARDENING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Running the full stack surfaced real issues—now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End-to-end runs with the real LLM, OCR, Whisper and detector drove these changes.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04288"/>
            <a:ext cx="256032" cy="256032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363724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B8A5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95144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2B8A5"/>
                </a:solidFill>
                <a:latin typeface="Aptos"/>
              </a:rPr>
              <a:t>TOPICS BY MEANING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MiniLM embeddings join TF-IDF, so reworded questions on one topic group together.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103120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26864" y="2304288"/>
            <a:ext cx="256032" cy="256032"/>
          </a:xfrm>
          <a:prstGeom prst="ellipse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363724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87F5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2295144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ROBUST LLM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743200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gpt-oss ignored the JSON schema; it is now stated in the prompt and replies are parsed leniently.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21040" y="2304288"/>
            <a:ext cx="256032" cy="256032"/>
          </a:xfrm>
          <a:prstGeom prst="ellipse">
            <a:avLst/>
          </a:prstGeom>
          <a:solidFill>
            <a:srgbClr val="F0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363724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9273D8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41664" y="2295144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273D8"/>
                </a:solidFill>
                <a:latin typeface="Aptos"/>
              </a:rPr>
              <a:t>FAIRER MCQS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0184" y="2743200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Answer options are shuffled; duplicate options and repeated questions are dropped.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39896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2688" y="3941063"/>
            <a:ext cx="256032" cy="256032"/>
          </a:xfrm>
          <a:prstGeom prst="ellipse">
            <a:avLst/>
          </a:prstGeom>
          <a:solidFill>
            <a:srgbClr val="FF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000500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B86B"/>
                </a:solidFill>
                <a:latin typeface="Apto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3931920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6B"/>
                </a:solidFill>
                <a:latin typeface="Aptos"/>
              </a:rPr>
              <a:t>NON-BLOCKING MODELS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4379976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Models load in the background; no request waits on a download.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5696" y="3739896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26864" y="3941063"/>
            <a:ext cx="256032" cy="256032"/>
          </a:xfrm>
          <a:prstGeom prst="ellipse">
            <a:avLst/>
          </a:prstGeom>
          <a:solidFill>
            <a:srgbClr val="DD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6864" y="4000500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87F78"/>
                </a:solidFill>
                <a:latin typeface="Apto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3931920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7F78"/>
                </a:solidFill>
                <a:latin typeface="Aptos"/>
              </a:rPr>
              <a:t>SHORT TRANSACTIONS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8" y="4379976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No database connection is held while waiting on ML calls.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9872" y="3739896"/>
            <a:ext cx="3401568" cy="13807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21040" y="3941063"/>
            <a:ext cx="256032" cy="256032"/>
          </a:xfrm>
          <a:prstGeom prst="ellipse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4000500"/>
            <a:ext cx="25603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487F5"/>
                </a:solidFill>
                <a:latin typeface="Apto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3931920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LOCKED-DOWN ML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0184" y="4379976"/>
            <a:ext cx="2962656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48C"/>
                </a:solidFill>
                <a:latin typeface="Aptos"/>
              </a:rPr>
              <a:t>The internal key is required on every ML endpoint except /health.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614416"/>
            <a:ext cx="10698480" cy="411480"/>
          </a:xfrm>
          <a:prstGeom prst="roundRect">
            <a:avLst>
              <a:gd name="adj" fmla="val 12000"/>
            </a:avLst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5742432"/>
            <a:ext cx="10332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ptos"/>
              </a:rPr>
              <a:t>Also fixed: test history stored the correct option instead of the learner’s actual choice.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12 /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Aptos"/>
              </a:rPr>
              <a:t>A small, containerised stack with clear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4CEDF"/>
                </a:solidFill>
                <a:latin typeface="Aptos"/>
              </a:rPr>
              <a:t>Docker Compose brings the frontend, API, ML service, and persistent data stores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35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CEDF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2185416"/>
            <a:ext cx="2404872" cy="1316736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5059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01 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61488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Browser UI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Static app on Nginx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2185416"/>
            <a:ext cx="2944368" cy="1316736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95928" y="2450592"/>
            <a:ext cx="2450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2B8A5"/>
                </a:solidFill>
                <a:latin typeface="Aptos"/>
              </a:rPr>
              <a:t>02  APPLICATION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95928" y="2761488"/>
            <a:ext cx="24505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Spring Boot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Auth · business logic ·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2185416"/>
            <a:ext cx="2944368" cy="1316736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62088" y="2450592"/>
            <a:ext cx="2450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7A0FF"/>
                </a:solidFill>
                <a:latin typeface="Aptos"/>
              </a:rPr>
              <a:t>03  ML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2088" y="2761488"/>
            <a:ext cx="24505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FastAPI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Analysis · generation · detection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4361688"/>
            <a:ext cx="2962656" cy="1060704"/>
          </a:xfrm>
          <a:prstGeom prst="roundRect">
            <a:avLst>
              <a:gd name="adj" fmla="val 12000"/>
            </a:avLst>
          </a:prstGeom>
          <a:solidFill>
            <a:srgbClr val="263B60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05072" y="457200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04  PERSISTENT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4901184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PostgreSQL · uploads · models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91256" y="2825496"/>
            <a:ext cx="502920" cy="0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2825496"/>
            <a:ext cx="521208" cy="0"/>
          </a:xfrm>
          <a:prstGeom prst="line">
            <a:avLst/>
          </a:prstGeom>
          <a:ln w="25400">
            <a:solidFill>
              <a:srgbClr val="B7A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230368" y="3529584"/>
            <a:ext cx="0" cy="740664"/>
          </a:xfrm>
          <a:prstGeom prst="line">
            <a:avLst/>
          </a:prstGeom>
          <a:ln w="25400">
            <a:solidFill>
              <a:srgbClr val="22B8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6583680" y="3529584"/>
            <a:ext cx="1316736" cy="722376"/>
          </a:xfrm>
          <a:prstGeom prst="line">
            <a:avLst/>
          </a:prstGeom>
          <a:ln w="25400">
            <a:solidFill>
              <a:srgbClr val="B7A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45536" y="2532888"/>
            <a:ext cx="667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CEDF"/>
                </a:solidFill>
                <a:latin typeface="Aptos"/>
              </a:rPr>
              <a:t>HTTPS/API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532888"/>
            <a:ext cx="704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CEDF"/>
                </a:solidFill>
                <a:latin typeface="Aptos"/>
              </a:rPr>
              <a:t>Internal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33488" y="4352544"/>
            <a:ext cx="2944368" cy="1078992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2088" y="4562856"/>
            <a:ext cx="2423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2B8A5"/>
                </a:solidFill>
                <a:latin typeface="Aptos"/>
              </a:rPr>
              <a:t>DEPLOYMENT &amp;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4882896"/>
            <a:ext cx="24414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Compose · health checks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JWT + internal service key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897880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CEDF"/>
                </a:solidFill>
                <a:latin typeface="Aptos"/>
              </a:rPr>
              <a:t>Runtime secrets and provider credentials are supplied through environment configuration.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13 / VALIDATION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8243B"/>
                </a:solidFill>
                <a:latin typeface="Aptos"/>
              </a:rPr>
              <a:t>A testable foundation—and room to grow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80744"/>
            <a:ext cx="106070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748C"/>
                </a:solidFill>
                <a:latin typeface="Aptos"/>
              </a:rPr>
              <a:t>67 ML-service tests and 53 backend tests pass, plus end-to-end runs on the Docker stack.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DFE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748C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39696"/>
            <a:ext cx="5193792" cy="3136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FE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32304"/>
            <a:ext cx="4434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7F78"/>
                </a:solidFill>
                <a:latin typeface="Aptos"/>
              </a:rPr>
              <a:t>VALIDATION IN PLACE</a:t>
            </a:r>
          </a:p>
        </p:txBody>
      </p:sp>
      <p:sp>
        <p:nvSpPr>
          <p:cNvPr id="10" name="Oval 9"/>
          <p:cNvSpPr/>
          <p:nvPr/>
        </p:nvSpPr>
        <p:spPr>
          <a:xfrm>
            <a:off x="1042415" y="3017520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926080"/>
            <a:ext cx="4306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Quiz flow, test history and authenticity integration tests</a:t>
            </a:r>
          </a:p>
        </p:txBody>
      </p:sp>
      <p:sp>
        <p:nvSpPr>
          <p:cNvPr id="12" name="Oval 11"/>
          <p:cNvSpPr/>
          <p:nvPr/>
        </p:nvSpPr>
        <p:spPr>
          <a:xfrm>
            <a:off x="1042415" y="3511296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419856"/>
            <a:ext cx="4306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IRT probability, update, and selection tests</a:t>
            </a:r>
          </a:p>
        </p:txBody>
      </p:sp>
      <p:sp>
        <p:nvSpPr>
          <p:cNvPr id="14" name="Oval 13"/>
          <p:cNvSpPr/>
          <p:nvPr/>
        </p:nvSpPr>
        <p:spPr>
          <a:xfrm>
            <a:off x="1042415" y="4005072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3913632"/>
            <a:ext cx="4306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ML API, OCR, transcription, analysis and detector tests</a:t>
            </a:r>
          </a:p>
        </p:txBody>
      </p:sp>
      <p:sp>
        <p:nvSpPr>
          <p:cNvPr id="16" name="Oval 15"/>
          <p:cNvSpPr/>
          <p:nvPr/>
        </p:nvSpPr>
        <p:spPr>
          <a:xfrm>
            <a:off x="1042415" y="4498848"/>
            <a:ext cx="82296" cy="822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43584" y="4407408"/>
            <a:ext cx="43068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8243B"/>
                </a:solidFill>
                <a:latin typeface="Aptos"/>
              </a:rPr>
              <a:t>End-to-end runs with the real LLM, OCR and Whisper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2139696"/>
            <a:ext cx="5193792" cy="3136392"/>
          </a:xfrm>
          <a:prstGeom prst="roundRect">
            <a:avLst>
              <a:gd name="adj" fmla="val 12000"/>
            </a:avLst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432304"/>
            <a:ext cx="4434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487F5"/>
                </a:solidFill>
                <a:latin typeface="Aptos"/>
              </a:rPr>
              <a:t>POSSIBLE NEXT STEPS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017520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7" y="2926080"/>
            <a:ext cx="4325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Learner progress and topic mastery dashboards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511296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7" y="3419856"/>
            <a:ext cx="4325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Educator tools for assigning and reviewing 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4005072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7" y="3913632"/>
            <a:ext cx="4325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Stronger AI-writing detection, evaluated on more data</a:t>
            </a:r>
          </a:p>
        </p:txBody>
      </p:sp>
      <p:sp>
        <p:nvSpPr>
          <p:cNvPr id="26" name="Oval 25"/>
          <p:cNvSpPr/>
          <p:nvPr/>
        </p:nvSpPr>
        <p:spPr>
          <a:xfrm>
            <a:off x="6492240" y="4498848"/>
            <a:ext cx="82296" cy="822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7" y="4407408"/>
            <a:ext cx="4325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70" b="0" i="0">
                <a:solidFill>
                  <a:srgbClr val="18243B"/>
                </a:solidFill>
                <a:latin typeface="Aptos"/>
              </a:rPr>
              <a:t>Expanded evaluation of generated questions and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669280"/>
            <a:ext cx="10789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87F78"/>
                </a:solidFill>
                <a:latin typeface="Aptos"/>
              </a:rPr>
              <a:t>Current scope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596128"/>
            <a:ext cx="8961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8243B"/>
                </a:solidFill>
                <a:latin typeface="Aptos"/>
              </a:rPr>
              <a:t>A full-stack workflow joining source material, adaptive tests, self-review and interviews.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PROJECT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49808"/>
            <a:ext cx="1078992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Aptos"/>
              </a:rPr>
              <a:t>The people behind Smart Study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510528"/>
            <a:ext cx="10881360" cy="10972"/>
          </a:xfrm>
          <a:prstGeom prst="rect">
            <a:avLst/>
          </a:prstGeom>
          <a:solidFill>
            <a:srgbClr val="3542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6583680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CEDF"/>
                </a:solidFill>
                <a:latin typeface="Aptos"/>
              </a:rPr>
              <a:t>SMART STUDY  ·  FINAL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2048256"/>
            <a:ext cx="6784848" cy="3840480"/>
          </a:xfrm>
          <a:prstGeom prst="roundRect">
            <a:avLst>
              <a:gd name="adj" fmla="val 12000"/>
            </a:avLst>
          </a:prstGeom>
          <a:solidFill>
            <a:srgbClr val="20345C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33172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6B"/>
                </a:solidFill>
                <a:latin typeface="Aptos"/>
              </a:rPr>
              <a:t>PROJECT TEAM</a:t>
            </a:r>
          </a:p>
        </p:txBody>
      </p:sp>
      <p:sp>
        <p:nvSpPr>
          <p:cNvPr id="10" name="Oval 9"/>
          <p:cNvSpPr/>
          <p:nvPr/>
        </p:nvSpPr>
        <p:spPr>
          <a:xfrm>
            <a:off x="1069848" y="2971799"/>
            <a:ext cx="310896" cy="310896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3063239"/>
            <a:ext cx="3108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213D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9443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Shravika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294436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CEDF"/>
                </a:solidFill>
                <a:latin typeface="Aptos"/>
              </a:rPr>
              <a:t>Roll No.: 23I7166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554480" y="3328416"/>
            <a:ext cx="5559552" cy="0"/>
          </a:xfrm>
          <a:prstGeom prst="line">
            <a:avLst/>
          </a:prstGeom>
          <a:ln w="12700">
            <a:solidFill>
              <a:srgbClr val="4353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69848" y="3886199"/>
            <a:ext cx="310896" cy="310896"/>
          </a:xfrm>
          <a:prstGeom prst="ellipse">
            <a:avLst/>
          </a:prstGeom>
          <a:solidFill>
            <a:srgbClr val="64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977639"/>
            <a:ext cx="3108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213D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587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Taniksha Patidar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4528" y="385876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CEDF"/>
                </a:solidFill>
                <a:latin typeface="Aptos"/>
              </a:rPr>
              <a:t>Roll No.: 23I7173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54480" y="4242816"/>
            <a:ext cx="5559552" cy="0"/>
          </a:xfrm>
          <a:prstGeom prst="line">
            <a:avLst/>
          </a:prstGeom>
          <a:ln w="12700">
            <a:solidFill>
              <a:srgbClr val="4353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69848" y="4800600"/>
            <a:ext cx="310896" cy="310896"/>
          </a:xfrm>
          <a:prstGeom prst="ellipse">
            <a:avLst/>
          </a:prstGeom>
          <a:solidFill>
            <a:srgbClr val="9273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892040"/>
            <a:ext cx="3108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213D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7731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Siddhi Nagar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4773168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CEDF"/>
                </a:solidFill>
                <a:latin typeface="Aptos"/>
              </a:rPr>
              <a:t>Roll No.: 23I7186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54480" y="5157216"/>
            <a:ext cx="5559552" cy="0"/>
          </a:xfrm>
          <a:prstGeom prst="line">
            <a:avLst/>
          </a:prstGeom>
          <a:ln w="12700">
            <a:solidFill>
              <a:srgbClr val="4353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845552" y="2048256"/>
            <a:ext cx="3575304" cy="1874519"/>
          </a:xfrm>
          <a:prstGeom prst="roundRect">
            <a:avLst>
              <a:gd name="adj" fmla="val 12000"/>
            </a:avLst>
          </a:prstGeom>
          <a:solidFill>
            <a:srgbClr val="263B60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7304" y="2331720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2B8A5"/>
                </a:solidFill>
                <a:latin typeface="Aptos"/>
              </a:rPr>
              <a:t>PROJECT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7304" y="2834640"/>
            <a:ext cx="2852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Name: Dr. Hemant Makwana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47304" y="3264408"/>
            <a:ext cx="2852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CEDF"/>
                </a:solidFill>
                <a:latin typeface="Aptos"/>
              </a:rPr>
              <a:t>Department: Information Technology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5552" y="4187952"/>
            <a:ext cx="3575304" cy="1700784"/>
          </a:xfrm>
          <a:prstGeom prst="roundRect">
            <a:avLst>
              <a:gd name="adj" fmla="val 12000"/>
            </a:avLst>
          </a:prstGeom>
          <a:solidFill>
            <a:srgbClr val="263B60"/>
          </a:solidFill>
          <a:ln w="12700">
            <a:solidFill>
              <a:srgbClr val="435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47304" y="4453128"/>
            <a:ext cx="27889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6B"/>
                </a:solidFill>
                <a:latin typeface="Aptos"/>
              </a:rPr>
              <a:t>INSTITUTION DETAILS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47304" y="4892040"/>
            <a:ext cx="2852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Department: Information Technology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47304" y="5285232"/>
            <a:ext cx="28529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C4CEDF"/>
                </a:solidFill>
                <a:latin typeface="Aptos"/>
              </a:rPr>
              <a:t>Institute of Engineering and Technology,
DAVV, Indore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23960" y="868680"/>
            <a:ext cx="2121408" cy="2121408"/>
          </a:xfrm>
          <a:prstGeom prst="ellipse">
            <a:avLst/>
          </a:prstGeom>
          <a:solidFill>
            <a:srgbClr val="203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81160" y="1325880"/>
            <a:ext cx="1207008" cy="1207008"/>
          </a:xfrm>
          <a:prstGeom prst="ellipse">
            <a:avLst/>
          </a:prstGeom>
          <a:solidFill>
            <a:srgbClr val="22B8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74352" y="1719072"/>
            <a:ext cx="420624" cy="420624"/>
          </a:xfrm>
          <a:prstGeom prst="ellipse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877824"/>
            <a:ext cx="1143000" cy="292608"/>
          </a:xfrm>
          <a:prstGeom prst="roundRect">
            <a:avLst>
              <a:gd name="adj" fmla="val 12000"/>
            </a:avLst>
          </a:prstGeom>
          <a:solidFill>
            <a:srgbClr val="263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928115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6B"/>
                </a:solidFill>
                <a:latin typeface="Apto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7498079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Aptos"/>
              </a:rPr>
              <a:t>Study smarter.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Aptos"/>
              </a:rPr>
              <a:t>Prepare with purpose.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566160"/>
            <a:ext cx="36576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B8A5"/>
                </a:solidFill>
                <a:latin typeface="Aptos"/>
              </a:rPr>
              <a:t>Smart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23367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4CEDF"/>
                </a:solidFill>
                <a:latin typeface="Aptos"/>
              </a:rPr>
              <a:t>Questions &amp;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" y="5020056"/>
            <a:ext cx="1417320" cy="45720"/>
          </a:xfrm>
          <a:prstGeom prst="rect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30352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FC0D9"/>
                </a:solidFill>
                <a:latin typeface="Aptos"/>
              </a:rPr>
              <a:t>Adaptive Exam Practice &amp; Interview Preparation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6089904"/>
            <a:ext cx="2834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ptos"/>
              </a:rPr>
              <a:t>FINAL SUBMISSION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4CEDF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Study ? Final Submission Presentation</dc:title>
  <dc:subject>Adaptive exam practice and interview preparation platform</dc:subject>
  <dc:creator>Smart Study Project Team</dc:creator>
  <cp:keywords>Smart Study, final year project, adaptive quiz, exam preparation, interview practice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